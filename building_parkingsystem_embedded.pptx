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Trebuchet MS Bold" panose="020B0703020202020204" pitchFamily="34" charset="0"/>
      <p:regular r:id="rId11"/>
      <p:bold r:id="rId12"/>
    </p:embeddedFont>
    <p:embeddedFont>
      <p:font typeface="Calibri" panose="020F0502020204030204" pitchFamily="34" charset="0"/>
      <p:regular r:id="rId13"/>
      <p:bold r:id="rId14"/>
    </p:embeddedFont>
    <p:embeddedFont>
      <p:font typeface="Calibri (MS)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Calibri (MS)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jpeg"/><Relationship Id="rId15" Type="http://schemas.openxmlformats.org/officeDocument/2006/relationships/image" Target="../media/image9.png"/><Relationship Id="rId10" Type="http://schemas.openxmlformats.org/officeDocument/2006/relationships/image" Target="../media/image9.svg"/><Relationship Id="rId4" Type="http://schemas.openxmlformats.org/officeDocument/2006/relationships/image" Target="../media/image2.jpeg"/><Relationship Id="rId9" Type="http://schemas.openxmlformats.org/officeDocument/2006/relationships/image" Target="../media/image6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8.svg"/><Relationship Id="rId3" Type="http://schemas.openxmlformats.org/officeDocument/2006/relationships/image" Target="../media/image3.jpe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6.sv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jpeg"/><Relationship Id="rId7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43.svg"/><Relationship Id="rId3" Type="http://schemas.openxmlformats.org/officeDocument/2006/relationships/image" Target="../media/image3.jpeg"/><Relationship Id="rId7" Type="http://schemas.openxmlformats.org/officeDocument/2006/relationships/image" Target="../media/image37.svg"/><Relationship Id="rId12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image" Target="../media/image3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7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5.sv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jpeg"/><Relationship Id="rId7" Type="http://schemas.openxmlformats.org/officeDocument/2006/relationships/image" Target="../media/image3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.jpeg"/><Relationship Id="rId7" Type="http://schemas.openxmlformats.org/officeDocument/2006/relationships/image" Target="../media/image4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58600" y="0"/>
            <a:ext cx="6624828" cy="10287000"/>
            <a:chOff x="0" y="0"/>
            <a:chExt cx="883310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33104" cy="13716000"/>
            </a:xfrm>
            <a:custGeom>
              <a:avLst/>
              <a:gdLst/>
              <a:ahLst/>
              <a:cxnLst/>
              <a:rect l="l" t="t" r="r" b="b"/>
              <a:pathLst>
                <a:path w="8833104" h="13716000">
                  <a:moveTo>
                    <a:pt x="0" y="0"/>
                  </a:moveTo>
                  <a:lnTo>
                    <a:pt x="8833104" y="0"/>
                  </a:lnTo>
                  <a:lnTo>
                    <a:pt x="88331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2327731" y="1972151"/>
            <a:ext cx="5313997" cy="6342697"/>
          </a:xfrm>
          <a:custGeom>
            <a:avLst/>
            <a:gdLst/>
            <a:ahLst/>
            <a:cxnLst/>
            <a:rect l="l" t="t" r="r" b="b"/>
            <a:pathLst>
              <a:path w="5313997" h="6342697">
                <a:moveTo>
                  <a:pt x="0" y="0"/>
                </a:moveTo>
                <a:lnTo>
                  <a:pt x="5313998" y="0"/>
                </a:lnTo>
                <a:lnTo>
                  <a:pt x="5313998" y="6342698"/>
                </a:lnTo>
                <a:lnTo>
                  <a:pt x="0" y="6342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344400" y="2235708"/>
            <a:ext cx="5280660" cy="411480"/>
            <a:chOff x="0" y="0"/>
            <a:chExt cx="7040880" cy="54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880" cy="548640"/>
            </a:xfrm>
            <a:custGeom>
              <a:avLst/>
              <a:gdLst/>
              <a:ahLst/>
              <a:cxnLst/>
              <a:rect l="l" t="t" r="r" b="b"/>
              <a:pathLst>
                <a:path w="7040880" h="54864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9884" b="-1998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344400" y="2228564"/>
            <a:ext cx="5280660" cy="418624"/>
            <a:chOff x="0" y="0"/>
            <a:chExt cx="7040880" cy="5581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40880" cy="558165"/>
            </a:xfrm>
            <a:custGeom>
              <a:avLst/>
              <a:gdLst/>
              <a:ahLst/>
              <a:cxnLst/>
              <a:rect l="l" t="t" r="r" b="b"/>
              <a:pathLst>
                <a:path w="7040880" h="558165">
                  <a:moveTo>
                    <a:pt x="0" y="0"/>
                  </a:moveTo>
                  <a:lnTo>
                    <a:pt x="7040880" y="0"/>
                  </a:lnTo>
                  <a:lnTo>
                    <a:pt x="704088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5790" b="-195790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70408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 spc="300">
                  <a:solidFill>
                    <a:srgbClr val="2EC4B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LIVE PARKING MAP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660630" y="2812542"/>
            <a:ext cx="2179320" cy="1356360"/>
          </a:xfrm>
          <a:custGeom>
            <a:avLst/>
            <a:gdLst/>
            <a:ahLst/>
            <a:cxnLst/>
            <a:rect l="l" t="t" r="r" b="b"/>
            <a:pathLst>
              <a:path w="2179320" h="1356360">
                <a:moveTo>
                  <a:pt x="0" y="0"/>
                </a:moveTo>
                <a:lnTo>
                  <a:pt x="2179320" y="0"/>
                </a:lnTo>
                <a:lnTo>
                  <a:pt x="2179320" y="1356360"/>
                </a:lnTo>
                <a:lnTo>
                  <a:pt x="0" y="1356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3366242" y="3216402"/>
            <a:ext cx="768096" cy="548640"/>
            <a:chOff x="0" y="0"/>
            <a:chExt cx="1024128" cy="73152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024128" cy="731520"/>
            </a:xfrm>
            <a:custGeom>
              <a:avLst/>
              <a:gdLst/>
              <a:ahLst/>
              <a:cxnLst/>
              <a:rect l="l" t="t" r="r" b="b"/>
              <a:pathLst>
                <a:path w="1024128" h="731520">
                  <a:moveTo>
                    <a:pt x="0" y="0"/>
                  </a:moveTo>
                  <a:lnTo>
                    <a:pt x="1024128" y="0"/>
                  </a:lnTo>
                  <a:lnTo>
                    <a:pt x="1024128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0000" b="-20000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5129510" y="2812542"/>
            <a:ext cx="2179320" cy="1356360"/>
          </a:xfrm>
          <a:custGeom>
            <a:avLst/>
            <a:gdLst/>
            <a:ahLst/>
            <a:cxnLst/>
            <a:rect l="l" t="t" r="r" b="b"/>
            <a:pathLst>
              <a:path w="2179320" h="1356360">
                <a:moveTo>
                  <a:pt x="0" y="0"/>
                </a:moveTo>
                <a:lnTo>
                  <a:pt x="2179320" y="0"/>
                </a:lnTo>
                <a:lnTo>
                  <a:pt x="2179320" y="1356360"/>
                </a:lnTo>
                <a:lnTo>
                  <a:pt x="0" y="13563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5156180" y="2839212"/>
            <a:ext cx="2125980" cy="1303020"/>
            <a:chOff x="0" y="0"/>
            <a:chExt cx="2834640" cy="1737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34640" cy="1737360"/>
            </a:xfrm>
            <a:custGeom>
              <a:avLst/>
              <a:gdLst/>
              <a:ahLst/>
              <a:cxnLst/>
              <a:rect l="l" t="t" r="r" b="b"/>
              <a:pathLst>
                <a:path w="2834640" h="1737360">
                  <a:moveTo>
                    <a:pt x="0" y="0"/>
                  </a:moveTo>
                  <a:lnTo>
                    <a:pt x="2834640" y="0"/>
                  </a:lnTo>
                  <a:lnTo>
                    <a:pt x="28346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692" r="-2869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5156180" y="2832068"/>
            <a:ext cx="2125980" cy="1310164"/>
            <a:chOff x="0" y="0"/>
            <a:chExt cx="2834640" cy="17468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34640" cy="1746885"/>
            </a:xfrm>
            <a:custGeom>
              <a:avLst/>
              <a:gdLst/>
              <a:ahLst/>
              <a:cxnLst/>
              <a:rect l="l" t="t" r="r" b="b"/>
              <a:pathLst>
                <a:path w="2834640" h="1746885">
                  <a:moveTo>
                    <a:pt x="0" y="0"/>
                  </a:moveTo>
                  <a:lnTo>
                    <a:pt x="2834640" y="0"/>
                  </a:lnTo>
                  <a:lnTo>
                    <a:pt x="2834640" y="1746885"/>
                  </a:lnTo>
                  <a:lnTo>
                    <a:pt x="0" y="17468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068" r="-2906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283464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21C06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2660630" y="4417314"/>
            <a:ext cx="2179320" cy="1356360"/>
          </a:xfrm>
          <a:custGeom>
            <a:avLst/>
            <a:gdLst/>
            <a:ahLst/>
            <a:cxnLst/>
            <a:rect l="l" t="t" r="r" b="b"/>
            <a:pathLst>
              <a:path w="2179320" h="1356360">
                <a:moveTo>
                  <a:pt x="0" y="0"/>
                </a:moveTo>
                <a:lnTo>
                  <a:pt x="2179320" y="0"/>
                </a:lnTo>
                <a:lnTo>
                  <a:pt x="2179320" y="1356360"/>
                </a:lnTo>
                <a:lnTo>
                  <a:pt x="0" y="13563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2687300" y="4443984"/>
            <a:ext cx="2125980" cy="1303020"/>
            <a:chOff x="0" y="0"/>
            <a:chExt cx="2834640" cy="1737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34640" cy="1737360"/>
            </a:xfrm>
            <a:custGeom>
              <a:avLst/>
              <a:gdLst/>
              <a:ahLst/>
              <a:cxnLst/>
              <a:rect l="l" t="t" r="r" b="b"/>
              <a:pathLst>
                <a:path w="2834640" h="1737360">
                  <a:moveTo>
                    <a:pt x="0" y="0"/>
                  </a:moveTo>
                  <a:lnTo>
                    <a:pt x="2834640" y="0"/>
                  </a:lnTo>
                  <a:lnTo>
                    <a:pt x="28346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692" r="-28692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2687300" y="4436840"/>
            <a:ext cx="2125980" cy="1310164"/>
            <a:chOff x="0" y="0"/>
            <a:chExt cx="2834640" cy="17468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834640" cy="1746885"/>
            </a:xfrm>
            <a:custGeom>
              <a:avLst/>
              <a:gdLst/>
              <a:ahLst/>
              <a:cxnLst/>
              <a:rect l="l" t="t" r="r" b="b"/>
              <a:pathLst>
                <a:path w="2834640" h="1746885">
                  <a:moveTo>
                    <a:pt x="0" y="0"/>
                  </a:moveTo>
                  <a:lnTo>
                    <a:pt x="2834640" y="0"/>
                  </a:lnTo>
                  <a:lnTo>
                    <a:pt x="2834640" y="1746885"/>
                  </a:lnTo>
                  <a:lnTo>
                    <a:pt x="0" y="17468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068" r="-2906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283464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21C06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5129510" y="4417314"/>
            <a:ext cx="2179320" cy="1356360"/>
          </a:xfrm>
          <a:custGeom>
            <a:avLst/>
            <a:gdLst/>
            <a:ahLst/>
            <a:cxnLst/>
            <a:rect l="l" t="t" r="r" b="b"/>
            <a:pathLst>
              <a:path w="2179320" h="1356360">
                <a:moveTo>
                  <a:pt x="0" y="0"/>
                </a:moveTo>
                <a:lnTo>
                  <a:pt x="2179320" y="0"/>
                </a:lnTo>
                <a:lnTo>
                  <a:pt x="2179320" y="1356360"/>
                </a:lnTo>
                <a:lnTo>
                  <a:pt x="0" y="1356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5835122" y="4821174"/>
            <a:ext cx="768096" cy="548640"/>
            <a:chOff x="0" y="0"/>
            <a:chExt cx="1024128" cy="73152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024128" cy="731520"/>
            </a:xfrm>
            <a:custGeom>
              <a:avLst/>
              <a:gdLst/>
              <a:ahLst/>
              <a:cxnLst/>
              <a:rect l="l" t="t" r="r" b="b"/>
              <a:pathLst>
                <a:path w="1024128" h="731520">
                  <a:moveTo>
                    <a:pt x="0" y="0"/>
                  </a:moveTo>
                  <a:lnTo>
                    <a:pt x="1024128" y="0"/>
                  </a:lnTo>
                  <a:lnTo>
                    <a:pt x="1024128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0000" b="-20000"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>
            <a:off x="12660630" y="6022086"/>
            <a:ext cx="2179320" cy="1356360"/>
          </a:xfrm>
          <a:custGeom>
            <a:avLst/>
            <a:gdLst/>
            <a:ahLst/>
            <a:cxnLst/>
            <a:rect l="l" t="t" r="r" b="b"/>
            <a:pathLst>
              <a:path w="2179320" h="1356360">
                <a:moveTo>
                  <a:pt x="0" y="0"/>
                </a:moveTo>
                <a:lnTo>
                  <a:pt x="2179320" y="0"/>
                </a:lnTo>
                <a:lnTo>
                  <a:pt x="2179320" y="1356360"/>
                </a:lnTo>
                <a:lnTo>
                  <a:pt x="0" y="13563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2687300" y="6048756"/>
            <a:ext cx="2125980" cy="1303020"/>
            <a:chOff x="0" y="0"/>
            <a:chExt cx="2834640" cy="17373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34640" cy="1737360"/>
            </a:xfrm>
            <a:custGeom>
              <a:avLst/>
              <a:gdLst/>
              <a:ahLst/>
              <a:cxnLst/>
              <a:rect l="l" t="t" r="r" b="b"/>
              <a:pathLst>
                <a:path w="2834640" h="1737360">
                  <a:moveTo>
                    <a:pt x="0" y="0"/>
                  </a:moveTo>
                  <a:lnTo>
                    <a:pt x="2834640" y="0"/>
                  </a:lnTo>
                  <a:lnTo>
                    <a:pt x="28346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692" r="-28692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2687300" y="6041612"/>
            <a:ext cx="2125980" cy="1310164"/>
            <a:chOff x="0" y="0"/>
            <a:chExt cx="2834640" cy="174688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34640" cy="1746885"/>
            </a:xfrm>
            <a:custGeom>
              <a:avLst/>
              <a:gdLst/>
              <a:ahLst/>
              <a:cxnLst/>
              <a:rect l="l" t="t" r="r" b="b"/>
              <a:pathLst>
                <a:path w="2834640" h="1746885">
                  <a:moveTo>
                    <a:pt x="0" y="0"/>
                  </a:moveTo>
                  <a:lnTo>
                    <a:pt x="2834640" y="0"/>
                  </a:lnTo>
                  <a:lnTo>
                    <a:pt x="2834640" y="1746885"/>
                  </a:lnTo>
                  <a:lnTo>
                    <a:pt x="0" y="17468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068" r="-2906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283464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21C06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5129510" y="6022086"/>
            <a:ext cx="2179320" cy="1356360"/>
          </a:xfrm>
          <a:custGeom>
            <a:avLst/>
            <a:gdLst/>
            <a:ahLst/>
            <a:cxnLst/>
            <a:rect l="l" t="t" r="r" b="b"/>
            <a:pathLst>
              <a:path w="2179320" h="1356360">
                <a:moveTo>
                  <a:pt x="0" y="0"/>
                </a:moveTo>
                <a:lnTo>
                  <a:pt x="2179320" y="0"/>
                </a:lnTo>
                <a:lnTo>
                  <a:pt x="2179320" y="1356360"/>
                </a:lnTo>
                <a:lnTo>
                  <a:pt x="0" y="1356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5835122" y="6425946"/>
            <a:ext cx="768096" cy="548640"/>
            <a:chOff x="0" y="0"/>
            <a:chExt cx="1024128" cy="731520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1024128" cy="731520"/>
            </a:xfrm>
            <a:custGeom>
              <a:avLst/>
              <a:gdLst/>
              <a:ahLst/>
              <a:cxnLst/>
              <a:rect l="l" t="t" r="r" b="b"/>
              <a:pathLst>
                <a:path w="1024128" h="731520">
                  <a:moveTo>
                    <a:pt x="0" y="0"/>
                  </a:moveTo>
                  <a:lnTo>
                    <a:pt x="1024128" y="0"/>
                  </a:lnTo>
                  <a:lnTo>
                    <a:pt x="1024128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0000" b="-20000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165860" y="1577340"/>
            <a:ext cx="10012680" cy="480060"/>
            <a:chOff x="0" y="0"/>
            <a:chExt cx="13350240" cy="6400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350239" cy="640080"/>
            </a:xfrm>
            <a:custGeom>
              <a:avLst/>
              <a:gdLst/>
              <a:ahLst/>
              <a:cxnLst/>
              <a:rect l="l" t="t" r="r" b="b"/>
              <a:pathLst>
                <a:path w="13350239" h="640080">
                  <a:moveTo>
                    <a:pt x="0" y="0"/>
                  </a:moveTo>
                  <a:lnTo>
                    <a:pt x="13350239" y="0"/>
                  </a:lnTo>
                  <a:lnTo>
                    <a:pt x="13350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6119" b="-356121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165860" y="1570196"/>
            <a:ext cx="10012680" cy="487204"/>
            <a:chOff x="0" y="0"/>
            <a:chExt cx="13350240" cy="64960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350239" cy="649605"/>
            </a:xfrm>
            <a:custGeom>
              <a:avLst/>
              <a:gdLst/>
              <a:ahLst/>
              <a:cxnLst/>
              <a:rect l="l" t="t" r="r" b="b"/>
              <a:pathLst>
                <a:path w="13350239" h="649605">
                  <a:moveTo>
                    <a:pt x="0" y="0"/>
                  </a:moveTo>
                  <a:lnTo>
                    <a:pt x="13350239" y="0"/>
                  </a:lnTo>
                  <a:lnTo>
                    <a:pt x="13350239" y="649605"/>
                  </a:lnTo>
                  <a:lnTo>
                    <a:pt x="0" y="649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50443" b="-35044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335024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300">
                  <a:solidFill>
                    <a:srgbClr val="2EC4B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EMBEDDED SYSTEMS 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97280" y="2125980"/>
            <a:ext cx="10424160" cy="2743200"/>
            <a:chOff x="0" y="0"/>
            <a:chExt cx="13898880" cy="3657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898880" cy="3657600"/>
            </a:xfrm>
            <a:custGeom>
              <a:avLst/>
              <a:gdLst/>
              <a:ahLst/>
              <a:cxnLst/>
              <a:rect l="l" t="t" r="r" b="b"/>
              <a:pathLst>
                <a:path w="13898880" h="3657600">
                  <a:moveTo>
                    <a:pt x="0" y="0"/>
                  </a:moveTo>
                  <a:lnTo>
                    <a:pt x="13898880" y="0"/>
                  </a:lnTo>
                  <a:lnTo>
                    <a:pt x="138988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991" b="-23991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097280" y="2261711"/>
            <a:ext cx="10424160" cy="2607469"/>
            <a:chOff x="0" y="0"/>
            <a:chExt cx="13898880" cy="347662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3898880" cy="3476625"/>
            </a:xfrm>
            <a:custGeom>
              <a:avLst/>
              <a:gdLst/>
              <a:ahLst/>
              <a:cxnLst/>
              <a:rect l="l" t="t" r="r" b="b"/>
              <a:pathLst>
                <a:path w="13898880" h="3476625">
                  <a:moveTo>
                    <a:pt x="0" y="0"/>
                  </a:moveTo>
                  <a:lnTo>
                    <a:pt x="13898880" y="0"/>
                  </a:lnTo>
                  <a:lnTo>
                    <a:pt x="13898880" y="3476625"/>
                  </a:lnTo>
                  <a:lnTo>
                    <a:pt x="0" y="34766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7897" b="-2789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180975"/>
              <a:ext cx="13898880" cy="3295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400"/>
                </a:lnSpc>
              </a:pPr>
              <a:r>
                <a:rPr lang="en-US" sz="87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Smart Parking</a:t>
              </a:r>
            </a:p>
            <a:p>
              <a:pPr algn="l">
                <a:lnSpc>
                  <a:spcPts val="8400"/>
                </a:lnSpc>
              </a:pPr>
              <a:r>
                <a:rPr lang="en-US" sz="87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System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65860" y="5006340"/>
            <a:ext cx="9875520" cy="1371600"/>
            <a:chOff x="0" y="0"/>
            <a:chExt cx="13167360" cy="1828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3167361" cy="1828800"/>
            </a:xfrm>
            <a:custGeom>
              <a:avLst/>
              <a:gdLst/>
              <a:ahLst/>
              <a:cxnLst/>
              <a:rect l="l" t="t" r="r" b="b"/>
              <a:pathLst>
                <a:path w="13167361" h="1828800">
                  <a:moveTo>
                    <a:pt x="0" y="0"/>
                  </a:moveTo>
                  <a:lnTo>
                    <a:pt x="13167361" y="0"/>
                  </a:lnTo>
                  <a:lnTo>
                    <a:pt x="131673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0194" b="-90195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165860" y="4927759"/>
            <a:ext cx="9875520" cy="1450181"/>
            <a:chOff x="0" y="0"/>
            <a:chExt cx="13167360" cy="193357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3167361" cy="1933575"/>
            </a:xfrm>
            <a:custGeom>
              <a:avLst/>
              <a:gdLst/>
              <a:ahLst/>
              <a:cxnLst/>
              <a:rect l="l" t="t" r="r" b="b"/>
              <a:pathLst>
                <a:path w="13167361" h="1933575">
                  <a:moveTo>
                    <a:pt x="0" y="0"/>
                  </a:moveTo>
                  <a:lnTo>
                    <a:pt x="13167361" y="0"/>
                  </a:lnTo>
                  <a:lnTo>
                    <a:pt x="13167361" y="1933575"/>
                  </a:lnTo>
                  <a:lnTo>
                    <a:pt x="0" y="19335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2690" b="-8269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04775"/>
              <a:ext cx="13167360" cy="203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0"/>
                </a:lnSpc>
              </a:pPr>
              <a:r>
                <a:rPr lang="en-US" sz="2325">
                  <a:solidFill>
                    <a:srgbClr val="C9D8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wireless parking solution featuring an ESP-01 Wi-Fi module that detects free slots in real time, automates entry, and reports availability through a connected web dashboard.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1149191" y="6635591"/>
            <a:ext cx="5313997" cy="787717"/>
          </a:xfrm>
          <a:custGeom>
            <a:avLst/>
            <a:gdLst/>
            <a:ahLst/>
            <a:cxnLst/>
            <a:rect l="l" t="t" r="r" b="b"/>
            <a:pathLst>
              <a:path w="5313997" h="787717">
                <a:moveTo>
                  <a:pt x="0" y="0"/>
                </a:moveTo>
                <a:lnTo>
                  <a:pt x="5313998" y="0"/>
                </a:lnTo>
                <a:lnTo>
                  <a:pt x="5313998" y="787718"/>
                </a:lnTo>
                <a:lnTo>
                  <a:pt x="0" y="7877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53" name="Group 53"/>
          <p:cNvGrpSpPr/>
          <p:nvPr/>
        </p:nvGrpSpPr>
        <p:grpSpPr>
          <a:xfrm>
            <a:off x="1440180" y="6652260"/>
            <a:ext cx="4800600" cy="754380"/>
            <a:chOff x="0" y="0"/>
            <a:chExt cx="6400800" cy="10058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400800" cy="1005840"/>
            </a:xfrm>
            <a:custGeom>
              <a:avLst/>
              <a:gdLst/>
              <a:ahLst/>
              <a:cxnLst/>
              <a:rect l="l" t="t" r="r" b="b"/>
              <a:pathLst>
                <a:path w="6400800" h="100584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909" b="-73910"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440180" y="6616541"/>
            <a:ext cx="4800600" cy="790099"/>
            <a:chOff x="0" y="0"/>
            <a:chExt cx="6400800" cy="105346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400800" cy="1053465"/>
            </a:xfrm>
            <a:custGeom>
              <a:avLst/>
              <a:gdLst/>
              <a:ahLst/>
              <a:cxnLst/>
              <a:rect l="l" t="t" r="r" b="b"/>
              <a:pathLst>
                <a:path w="6400800" h="1053465">
                  <a:moveTo>
                    <a:pt x="0" y="0"/>
                  </a:moveTo>
                  <a:lnTo>
                    <a:pt x="6400800" y="0"/>
                  </a:lnTo>
                  <a:lnTo>
                    <a:pt x="6400800" y="1053465"/>
                  </a:lnTo>
                  <a:lnTo>
                    <a:pt x="0" y="10534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8390" b="-68390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6400800" cy="1101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9FB6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  </a:t>
              </a: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Dr. Amr Fahmy</a:t>
              </a:r>
            </a:p>
          </p:txBody>
        </p:sp>
      </p:grpSp>
      <p:sp>
        <p:nvSpPr>
          <p:cNvPr id="58" name="Freeform 58"/>
          <p:cNvSpPr/>
          <p:nvPr/>
        </p:nvSpPr>
        <p:spPr>
          <a:xfrm>
            <a:off x="1149191" y="7870031"/>
            <a:ext cx="1830133" cy="719138"/>
          </a:xfrm>
          <a:custGeom>
            <a:avLst/>
            <a:gdLst/>
            <a:ahLst/>
            <a:cxnLst/>
            <a:rect l="l" t="t" r="r" b="b"/>
            <a:pathLst>
              <a:path w="1830133" h="719138">
                <a:moveTo>
                  <a:pt x="0" y="0"/>
                </a:moveTo>
                <a:lnTo>
                  <a:pt x="1830134" y="0"/>
                </a:lnTo>
                <a:lnTo>
                  <a:pt x="1830134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59" name="Group 59"/>
          <p:cNvGrpSpPr/>
          <p:nvPr/>
        </p:nvGrpSpPr>
        <p:grpSpPr>
          <a:xfrm>
            <a:off x="1165860" y="7886700"/>
            <a:ext cx="1796796" cy="685800"/>
            <a:chOff x="0" y="0"/>
            <a:chExt cx="2395728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395728" cy="914400"/>
            </a:xfrm>
            <a:custGeom>
              <a:avLst/>
              <a:gdLst/>
              <a:ahLst/>
              <a:cxnLst/>
              <a:rect l="l" t="t" r="r" b="b"/>
              <a:pathLst>
                <a:path w="2395728" h="914400">
                  <a:moveTo>
                    <a:pt x="0" y="0"/>
                  </a:moveTo>
                  <a:lnTo>
                    <a:pt x="2395728" y="0"/>
                  </a:lnTo>
                  <a:lnTo>
                    <a:pt x="23957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5" b="-1015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165860" y="7850981"/>
            <a:ext cx="1796796" cy="721519"/>
            <a:chOff x="0" y="0"/>
            <a:chExt cx="2395728" cy="96202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395728" cy="962025"/>
            </a:xfrm>
            <a:custGeom>
              <a:avLst/>
              <a:gdLst/>
              <a:ahLst/>
              <a:cxnLst/>
              <a:rect l="l" t="t" r="r" b="b"/>
              <a:pathLst>
                <a:path w="2395728" h="962025">
                  <a:moveTo>
                    <a:pt x="0" y="0"/>
                  </a:moveTo>
                  <a:lnTo>
                    <a:pt x="2395728" y="0"/>
                  </a:lnTo>
                  <a:lnTo>
                    <a:pt x="2395728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21" r="-1521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2395728" cy="1009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Caroll Froid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3220307" y="7870031"/>
            <a:ext cx="1830134" cy="719138"/>
          </a:xfrm>
          <a:custGeom>
            <a:avLst/>
            <a:gdLst/>
            <a:ahLst/>
            <a:cxnLst/>
            <a:rect l="l" t="t" r="r" b="b"/>
            <a:pathLst>
              <a:path w="1830134" h="719138">
                <a:moveTo>
                  <a:pt x="0" y="0"/>
                </a:moveTo>
                <a:lnTo>
                  <a:pt x="1830134" y="0"/>
                </a:lnTo>
                <a:lnTo>
                  <a:pt x="1830134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65" name="Group 65"/>
          <p:cNvGrpSpPr/>
          <p:nvPr/>
        </p:nvGrpSpPr>
        <p:grpSpPr>
          <a:xfrm>
            <a:off x="3236976" y="7886700"/>
            <a:ext cx="1796796" cy="685800"/>
            <a:chOff x="0" y="0"/>
            <a:chExt cx="2395728" cy="914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395728" cy="914400"/>
            </a:xfrm>
            <a:custGeom>
              <a:avLst/>
              <a:gdLst/>
              <a:ahLst/>
              <a:cxnLst/>
              <a:rect l="l" t="t" r="r" b="b"/>
              <a:pathLst>
                <a:path w="2395728" h="914400">
                  <a:moveTo>
                    <a:pt x="0" y="0"/>
                  </a:moveTo>
                  <a:lnTo>
                    <a:pt x="2395728" y="0"/>
                  </a:lnTo>
                  <a:lnTo>
                    <a:pt x="23957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5" b="-1015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3236976" y="7850981"/>
            <a:ext cx="1796796" cy="721519"/>
            <a:chOff x="0" y="0"/>
            <a:chExt cx="2395728" cy="96202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395728" cy="962025"/>
            </a:xfrm>
            <a:custGeom>
              <a:avLst/>
              <a:gdLst/>
              <a:ahLst/>
              <a:cxnLst/>
              <a:rect l="l" t="t" r="r" b="b"/>
              <a:pathLst>
                <a:path w="2395728" h="962025">
                  <a:moveTo>
                    <a:pt x="0" y="0"/>
                  </a:moveTo>
                  <a:lnTo>
                    <a:pt x="2395728" y="0"/>
                  </a:lnTo>
                  <a:lnTo>
                    <a:pt x="2395728" y="962025"/>
                  </a:lnTo>
                  <a:lnTo>
                    <a:pt x="0" y="9620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21" r="-1521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2395728" cy="1009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Farida Elsayed</a:t>
              </a:r>
            </a:p>
          </p:txBody>
        </p:sp>
      </p:grpSp>
      <p:sp>
        <p:nvSpPr>
          <p:cNvPr id="70" name="Freeform 70"/>
          <p:cNvSpPr/>
          <p:nvPr/>
        </p:nvSpPr>
        <p:spPr>
          <a:xfrm>
            <a:off x="5291423" y="7870031"/>
            <a:ext cx="1830133" cy="719138"/>
          </a:xfrm>
          <a:custGeom>
            <a:avLst/>
            <a:gdLst/>
            <a:ahLst/>
            <a:cxnLst/>
            <a:rect l="l" t="t" r="r" b="b"/>
            <a:pathLst>
              <a:path w="1830133" h="719138">
                <a:moveTo>
                  <a:pt x="0" y="0"/>
                </a:moveTo>
                <a:lnTo>
                  <a:pt x="1830134" y="0"/>
                </a:lnTo>
                <a:lnTo>
                  <a:pt x="1830134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71" name="Group 71"/>
          <p:cNvGrpSpPr/>
          <p:nvPr/>
        </p:nvGrpSpPr>
        <p:grpSpPr>
          <a:xfrm>
            <a:off x="5308092" y="7886700"/>
            <a:ext cx="1796796" cy="685800"/>
            <a:chOff x="0" y="0"/>
            <a:chExt cx="2395728" cy="914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395728" cy="914400"/>
            </a:xfrm>
            <a:custGeom>
              <a:avLst/>
              <a:gdLst/>
              <a:ahLst/>
              <a:cxnLst/>
              <a:rect l="l" t="t" r="r" b="b"/>
              <a:pathLst>
                <a:path w="2395728" h="914400">
                  <a:moveTo>
                    <a:pt x="0" y="0"/>
                  </a:moveTo>
                  <a:lnTo>
                    <a:pt x="2395728" y="0"/>
                  </a:lnTo>
                  <a:lnTo>
                    <a:pt x="23957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5" b="-1015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5308092" y="7850981"/>
            <a:ext cx="1796796" cy="732179"/>
            <a:chOff x="0" y="0"/>
            <a:chExt cx="2395728" cy="97623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395728" cy="976238"/>
            </a:xfrm>
            <a:custGeom>
              <a:avLst/>
              <a:gdLst/>
              <a:ahLst/>
              <a:cxnLst/>
              <a:rect l="l" t="t" r="r" b="b"/>
              <a:pathLst>
                <a:path w="2395728" h="976238">
                  <a:moveTo>
                    <a:pt x="0" y="0"/>
                  </a:moveTo>
                  <a:lnTo>
                    <a:pt x="2395728" y="0"/>
                  </a:lnTo>
                  <a:lnTo>
                    <a:pt x="2395728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21" r="-1521" b="1455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2395728" cy="10238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Norhan Mohamed</a:t>
              </a:r>
            </a:p>
          </p:txBody>
        </p:sp>
      </p:grpSp>
      <p:sp>
        <p:nvSpPr>
          <p:cNvPr id="76" name="Freeform 76"/>
          <p:cNvSpPr/>
          <p:nvPr/>
        </p:nvSpPr>
        <p:spPr>
          <a:xfrm>
            <a:off x="7362539" y="7870031"/>
            <a:ext cx="1644967" cy="719138"/>
          </a:xfrm>
          <a:custGeom>
            <a:avLst/>
            <a:gdLst/>
            <a:ahLst/>
            <a:cxnLst/>
            <a:rect l="l" t="t" r="r" b="b"/>
            <a:pathLst>
              <a:path w="1644967" h="719138">
                <a:moveTo>
                  <a:pt x="0" y="0"/>
                </a:moveTo>
                <a:lnTo>
                  <a:pt x="1644968" y="0"/>
                </a:lnTo>
                <a:lnTo>
                  <a:pt x="1644968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77" name="Group 77"/>
          <p:cNvGrpSpPr/>
          <p:nvPr/>
        </p:nvGrpSpPr>
        <p:grpSpPr>
          <a:xfrm>
            <a:off x="7379208" y="7886700"/>
            <a:ext cx="1611630" cy="685800"/>
            <a:chOff x="0" y="0"/>
            <a:chExt cx="2148840" cy="9144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148840" cy="914400"/>
            </a:xfrm>
            <a:custGeom>
              <a:avLst/>
              <a:gdLst/>
              <a:ahLst/>
              <a:cxnLst/>
              <a:rect l="l" t="t" r="r" b="b"/>
              <a:pathLst>
                <a:path w="2148840" h="914400">
                  <a:moveTo>
                    <a:pt x="0" y="0"/>
                  </a:moveTo>
                  <a:lnTo>
                    <a:pt x="2148840" y="0"/>
                  </a:lnTo>
                  <a:lnTo>
                    <a:pt x="2148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35" r="-4635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7379208" y="7850981"/>
            <a:ext cx="1611630" cy="732179"/>
            <a:chOff x="0" y="0"/>
            <a:chExt cx="2148840" cy="97623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148840" cy="976238"/>
            </a:xfrm>
            <a:custGeom>
              <a:avLst/>
              <a:gdLst/>
              <a:ahLst/>
              <a:cxnLst/>
              <a:rect l="l" t="t" r="r" b="b"/>
              <a:pathLst>
                <a:path w="2148840" h="976238">
                  <a:moveTo>
                    <a:pt x="0" y="0"/>
                  </a:moveTo>
                  <a:lnTo>
                    <a:pt x="2148840" y="0"/>
                  </a:lnTo>
                  <a:lnTo>
                    <a:pt x="214884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440" r="-7440" b="1455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2148840" cy="10238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Zeina Mohamed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5087600" cy="411480"/>
            <a:chOff x="0" y="0"/>
            <a:chExt cx="201168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16800" cy="548640"/>
            </a:xfrm>
            <a:custGeom>
              <a:avLst/>
              <a:gdLst/>
              <a:ahLst/>
              <a:cxnLst/>
              <a:rect l="l" t="t" r="r" b="b"/>
              <a:pathLst>
                <a:path w="20116800" h="54864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3953" b="-66395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0120" y="671512"/>
            <a:ext cx="15087600" cy="425768"/>
            <a:chOff x="0" y="0"/>
            <a:chExt cx="20116800" cy="5676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567690"/>
            </a:xfrm>
            <a:custGeom>
              <a:avLst/>
              <a:gdLst/>
              <a:ahLst/>
              <a:cxnLst/>
              <a:rect l="l" t="t" r="r" b="b"/>
              <a:pathLst>
                <a:path w="20116800" h="567690">
                  <a:moveTo>
                    <a:pt x="0" y="0"/>
                  </a:moveTo>
                  <a:lnTo>
                    <a:pt x="20116800" y="0"/>
                  </a:lnTo>
                  <a:lnTo>
                    <a:pt x="2011680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76" b="-64047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0116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01  ·  THE CHALLENGE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1069848"/>
            <a:ext cx="16733520" cy="960120"/>
            <a:chOff x="0" y="0"/>
            <a:chExt cx="2231136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11361" cy="1280160"/>
            </a:xfrm>
            <a:custGeom>
              <a:avLst/>
              <a:gdLst/>
              <a:ahLst/>
              <a:cxnLst/>
              <a:rect l="l" t="t" r="r" b="b"/>
              <a:pathLst>
                <a:path w="22311361" h="1280160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9360" b="-28936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60120" y="1062704"/>
            <a:ext cx="16733520" cy="967264"/>
            <a:chOff x="0" y="0"/>
            <a:chExt cx="22311360" cy="1289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1361" cy="1289685"/>
            </a:xfrm>
            <a:custGeom>
              <a:avLst/>
              <a:gdLst/>
              <a:ahLst/>
              <a:cxnLst/>
              <a:rect l="l" t="t" r="r" b="b"/>
              <a:pathLst>
                <a:path w="22311361" h="1289685">
                  <a:moveTo>
                    <a:pt x="0" y="0"/>
                  </a:moveTo>
                  <a:lnTo>
                    <a:pt x="22311361" y="0"/>
                  </a:lnTo>
                  <a:lnTo>
                    <a:pt x="22311361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088" b="-28708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31136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3283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Problem Statement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120" y="2221992"/>
            <a:ext cx="16459200" cy="685800"/>
            <a:chOff x="0" y="0"/>
            <a:chExt cx="219456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0" cy="914400"/>
            </a:xfrm>
            <a:custGeom>
              <a:avLst/>
              <a:gdLst/>
              <a:ahLst/>
              <a:cxnLst/>
              <a:rect l="l" t="t" r="r" b="b"/>
              <a:pathLst>
                <a:path w="21945600" h="9144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7315" b="-417316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60120" y="2193417"/>
            <a:ext cx="16459200" cy="714375"/>
            <a:chOff x="0" y="0"/>
            <a:chExt cx="21945600" cy="952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952500"/>
            </a:xfrm>
            <a:custGeom>
              <a:avLst/>
              <a:gdLst/>
              <a:ahLst/>
              <a:cxnLst/>
              <a:rect l="l" t="t" r="r" b="b"/>
              <a:pathLst>
                <a:path w="21945600" h="952500">
                  <a:moveTo>
                    <a:pt x="0" y="0"/>
                  </a:moveTo>
                  <a:lnTo>
                    <a:pt x="21945600" y="0"/>
                  </a:lnTo>
                  <a:lnTo>
                    <a:pt x="219456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8935" b="-39893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1945600" cy="990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Conventional parking is slow and blind and dangerously rigid when something goes wrong.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0120" y="3360420"/>
            <a:ext cx="4005072" cy="5623560"/>
            <a:chOff x="0" y="0"/>
            <a:chExt cx="5340096" cy="74980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40096" cy="7498080"/>
            </a:xfrm>
            <a:custGeom>
              <a:avLst/>
              <a:gdLst/>
              <a:ahLst/>
              <a:cxnLst/>
              <a:rect l="l" t="t" r="r" b="b"/>
              <a:pathLst>
                <a:path w="5340096" h="7498080">
                  <a:moveTo>
                    <a:pt x="0" y="0"/>
                  </a:moveTo>
                  <a:lnTo>
                    <a:pt x="5340096" y="0"/>
                  </a:lnTo>
                  <a:lnTo>
                    <a:pt x="5340096" y="7498080"/>
                  </a:lnTo>
                  <a:lnTo>
                    <a:pt x="0" y="7498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60120" y="3360420"/>
            <a:ext cx="4005072" cy="123444"/>
            <a:chOff x="0" y="0"/>
            <a:chExt cx="5340096" cy="164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40096" cy="164592"/>
            </a:xfrm>
            <a:custGeom>
              <a:avLst/>
              <a:gdLst/>
              <a:ahLst/>
              <a:cxnLst/>
              <a:rect l="l" t="t" r="r" b="b"/>
              <a:pathLst>
                <a:path w="5340096" h="164592">
                  <a:moveTo>
                    <a:pt x="0" y="0"/>
                  </a:moveTo>
                  <a:lnTo>
                    <a:pt x="5340096" y="0"/>
                  </a:lnTo>
                  <a:lnTo>
                    <a:pt x="534009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4A52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71600" y="3840480"/>
            <a:ext cx="1371600" cy="1371600"/>
            <a:chOff x="0" y="0"/>
            <a:chExt cx="1828800" cy="1828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5F8F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728216" y="4197096"/>
            <a:ext cx="658368" cy="658368"/>
            <a:chOff x="0" y="0"/>
            <a:chExt cx="877824" cy="877824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371600" y="5486400"/>
            <a:ext cx="3182112" cy="685800"/>
            <a:chOff x="0" y="0"/>
            <a:chExt cx="4242816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242816" cy="914400"/>
            </a:xfrm>
            <a:custGeom>
              <a:avLst/>
              <a:gdLst/>
              <a:ahLst/>
              <a:cxnLst/>
              <a:rect l="l" t="t" r="r" b="b"/>
              <a:pathLst>
                <a:path w="4242816" h="914400">
                  <a:moveTo>
                    <a:pt x="0" y="0"/>
                  </a:moveTo>
                  <a:lnTo>
                    <a:pt x="4242816" y="0"/>
                  </a:lnTo>
                  <a:lnTo>
                    <a:pt x="424281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347" b="-40348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371600" y="5479256"/>
            <a:ext cx="3182112" cy="692944"/>
            <a:chOff x="0" y="0"/>
            <a:chExt cx="4242816" cy="9239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42816" cy="923925"/>
            </a:xfrm>
            <a:custGeom>
              <a:avLst/>
              <a:gdLst/>
              <a:ahLst/>
              <a:cxnLst/>
              <a:rect l="l" t="t" r="r" b="b"/>
              <a:pathLst>
                <a:path w="4242816" h="923925">
                  <a:moveTo>
                    <a:pt x="0" y="0"/>
                  </a:moveTo>
                  <a:lnTo>
                    <a:pt x="4242816" y="0"/>
                  </a:lnTo>
                  <a:lnTo>
                    <a:pt x="4242816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478" b="-3947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4242816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3283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Wasted Time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71600" y="6240780"/>
            <a:ext cx="3182112" cy="2468880"/>
            <a:chOff x="0" y="0"/>
            <a:chExt cx="4242816" cy="32918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42816" cy="3291840"/>
            </a:xfrm>
            <a:custGeom>
              <a:avLst/>
              <a:gdLst/>
              <a:ahLst/>
              <a:cxnLst/>
              <a:rect l="l" t="t" r="r" b="b"/>
              <a:pathLst>
                <a:path w="4242816" h="3291840">
                  <a:moveTo>
                    <a:pt x="0" y="0"/>
                  </a:moveTo>
                  <a:lnTo>
                    <a:pt x="4242816" y="0"/>
                  </a:lnTo>
                  <a:lnTo>
                    <a:pt x="424281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15" r="-49615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371600" y="6183630"/>
            <a:ext cx="3182112" cy="2526030"/>
            <a:chOff x="0" y="0"/>
            <a:chExt cx="4242816" cy="33680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242816" cy="3368040"/>
            </a:xfrm>
            <a:custGeom>
              <a:avLst/>
              <a:gdLst/>
              <a:ahLst/>
              <a:cxnLst/>
              <a:rect l="l" t="t" r="r" b="b"/>
              <a:pathLst>
                <a:path w="4242816" h="3368040">
                  <a:moveTo>
                    <a:pt x="0" y="0"/>
                  </a:moveTo>
                  <a:lnTo>
                    <a:pt x="4242816" y="0"/>
                  </a:lnTo>
                  <a:lnTo>
                    <a:pt x="4242816" y="3368040"/>
                  </a:lnTo>
                  <a:lnTo>
                    <a:pt x="0" y="3368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850" r="-5185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76200"/>
              <a:ext cx="4242816" cy="3444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Drivers circle for minutes hunting for an empty slot, especially at peak hours.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12080" y="3360420"/>
            <a:ext cx="4005072" cy="5623560"/>
            <a:chOff x="0" y="0"/>
            <a:chExt cx="5340096" cy="74980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340096" cy="7498080"/>
            </a:xfrm>
            <a:custGeom>
              <a:avLst/>
              <a:gdLst/>
              <a:ahLst/>
              <a:cxnLst/>
              <a:rect l="l" t="t" r="r" b="b"/>
              <a:pathLst>
                <a:path w="5340096" h="7498080">
                  <a:moveTo>
                    <a:pt x="0" y="0"/>
                  </a:moveTo>
                  <a:lnTo>
                    <a:pt x="5340096" y="0"/>
                  </a:lnTo>
                  <a:lnTo>
                    <a:pt x="5340096" y="7498080"/>
                  </a:lnTo>
                  <a:lnTo>
                    <a:pt x="0" y="7498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5212080" y="3360420"/>
            <a:ext cx="4005072" cy="123444"/>
            <a:chOff x="0" y="0"/>
            <a:chExt cx="5340096" cy="1645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40096" cy="164592"/>
            </a:xfrm>
            <a:custGeom>
              <a:avLst/>
              <a:gdLst/>
              <a:ahLst/>
              <a:cxnLst/>
              <a:rect l="l" t="t" r="r" b="b"/>
              <a:pathLst>
                <a:path w="5340096" h="164592">
                  <a:moveTo>
                    <a:pt x="0" y="0"/>
                  </a:moveTo>
                  <a:lnTo>
                    <a:pt x="5340096" y="0"/>
                  </a:lnTo>
                  <a:lnTo>
                    <a:pt x="534009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4A52E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5623560" y="3840480"/>
            <a:ext cx="1371600" cy="1371600"/>
            <a:chOff x="0" y="0"/>
            <a:chExt cx="1828800" cy="1828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5F8FA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5980176" y="4197096"/>
            <a:ext cx="658368" cy="658368"/>
            <a:chOff x="0" y="0"/>
            <a:chExt cx="877824" cy="877824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5623560" y="5486400"/>
            <a:ext cx="3182112" cy="685800"/>
            <a:chOff x="0" y="0"/>
            <a:chExt cx="4242816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242816" cy="914400"/>
            </a:xfrm>
            <a:custGeom>
              <a:avLst/>
              <a:gdLst/>
              <a:ahLst/>
              <a:cxnLst/>
              <a:rect l="l" t="t" r="r" b="b"/>
              <a:pathLst>
                <a:path w="4242816" h="914400">
                  <a:moveTo>
                    <a:pt x="0" y="0"/>
                  </a:moveTo>
                  <a:lnTo>
                    <a:pt x="4242816" y="0"/>
                  </a:lnTo>
                  <a:lnTo>
                    <a:pt x="424281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347" b="-40348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5623560" y="5479256"/>
            <a:ext cx="3182112" cy="692944"/>
            <a:chOff x="0" y="0"/>
            <a:chExt cx="4242816" cy="92392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242816" cy="923925"/>
            </a:xfrm>
            <a:custGeom>
              <a:avLst/>
              <a:gdLst/>
              <a:ahLst/>
              <a:cxnLst/>
              <a:rect l="l" t="t" r="r" b="b"/>
              <a:pathLst>
                <a:path w="4242816" h="923925">
                  <a:moveTo>
                    <a:pt x="0" y="0"/>
                  </a:moveTo>
                  <a:lnTo>
                    <a:pt x="4242816" y="0"/>
                  </a:lnTo>
                  <a:lnTo>
                    <a:pt x="4242816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478" b="-3947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4242816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3283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 Live Information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23560" y="6240780"/>
            <a:ext cx="3182112" cy="2468880"/>
            <a:chOff x="0" y="0"/>
            <a:chExt cx="4242816" cy="32918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242816" cy="3291840"/>
            </a:xfrm>
            <a:custGeom>
              <a:avLst/>
              <a:gdLst/>
              <a:ahLst/>
              <a:cxnLst/>
              <a:rect l="l" t="t" r="r" b="b"/>
              <a:pathLst>
                <a:path w="4242816" h="3291840">
                  <a:moveTo>
                    <a:pt x="0" y="0"/>
                  </a:moveTo>
                  <a:lnTo>
                    <a:pt x="4242816" y="0"/>
                  </a:lnTo>
                  <a:lnTo>
                    <a:pt x="424281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15" r="-49615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5623560" y="6183630"/>
            <a:ext cx="3182112" cy="2526030"/>
            <a:chOff x="0" y="0"/>
            <a:chExt cx="4242816" cy="33680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242816" cy="3368040"/>
            </a:xfrm>
            <a:custGeom>
              <a:avLst/>
              <a:gdLst/>
              <a:ahLst/>
              <a:cxnLst/>
              <a:rect l="l" t="t" r="r" b="b"/>
              <a:pathLst>
                <a:path w="4242816" h="3368040">
                  <a:moveTo>
                    <a:pt x="0" y="0"/>
                  </a:moveTo>
                  <a:lnTo>
                    <a:pt x="4242816" y="0"/>
                  </a:lnTo>
                  <a:lnTo>
                    <a:pt x="4242816" y="3368040"/>
                  </a:lnTo>
                  <a:lnTo>
                    <a:pt x="0" y="3368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850" r="-5185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76200"/>
              <a:ext cx="4242816" cy="3444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Neither drivers nor staff can see which spaces are free without checking each one.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464040" y="3360420"/>
            <a:ext cx="4005072" cy="5623560"/>
            <a:chOff x="0" y="0"/>
            <a:chExt cx="5340096" cy="74980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340096" cy="7498080"/>
            </a:xfrm>
            <a:custGeom>
              <a:avLst/>
              <a:gdLst/>
              <a:ahLst/>
              <a:cxnLst/>
              <a:rect l="l" t="t" r="r" b="b"/>
              <a:pathLst>
                <a:path w="5340096" h="7498080">
                  <a:moveTo>
                    <a:pt x="0" y="0"/>
                  </a:moveTo>
                  <a:lnTo>
                    <a:pt x="5340096" y="0"/>
                  </a:lnTo>
                  <a:lnTo>
                    <a:pt x="5340096" y="7498080"/>
                  </a:lnTo>
                  <a:lnTo>
                    <a:pt x="0" y="7498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464040" y="3360420"/>
            <a:ext cx="4005072" cy="123444"/>
            <a:chOff x="0" y="0"/>
            <a:chExt cx="5340096" cy="16459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340096" cy="164592"/>
            </a:xfrm>
            <a:custGeom>
              <a:avLst/>
              <a:gdLst/>
              <a:ahLst/>
              <a:cxnLst/>
              <a:rect l="l" t="t" r="r" b="b"/>
              <a:pathLst>
                <a:path w="5340096" h="164592">
                  <a:moveTo>
                    <a:pt x="0" y="0"/>
                  </a:moveTo>
                  <a:lnTo>
                    <a:pt x="5340096" y="0"/>
                  </a:lnTo>
                  <a:lnTo>
                    <a:pt x="534009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4A52E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9875520" y="3840480"/>
            <a:ext cx="1371600" cy="1371600"/>
            <a:chOff x="0" y="0"/>
            <a:chExt cx="1828800" cy="1828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5F8FA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0232136" y="4197096"/>
            <a:ext cx="658368" cy="658368"/>
            <a:chOff x="0" y="0"/>
            <a:chExt cx="877824" cy="877824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9875520" y="5486400"/>
            <a:ext cx="3182112" cy="685800"/>
            <a:chOff x="0" y="0"/>
            <a:chExt cx="4242816" cy="914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242816" cy="914400"/>
            </a:xfrm>
            <a:custGeom>
              <a:avLst/>
              <a:gdLst/>
              <a:ahLst/>
              <a:cxnLst/>
              <a:rect l="l" t="t" r="r" b="b"/>
              <a:pathLst>
                <a:path w="4242816" h="914400">
                  <a:moveTo>
                    <a:pt x="0" y="0"/>
                  </a:moveTo>
                  <a:lnTo>
                    <a:pt x="4242816" y="0"/>
                  </a:lnTo>
                  <a:lnTo>
                    <a:pt x="424281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347" b="-40348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9875520" y="5479256"/>
            <a:ext cx="3182112" cy="692944"/>
            <a:chOff x="0" y="0"/>
            <a:chExt cx="4242816" cy="92392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242816" cy="923925"/>
            </a:xfrm>
            <a:custGeom>
              <a:avLst/>
              <a:gdLst/>
              <a:ahLst/>
              <a:cxnLst/>
              <a:rect l="l" t="t" r="r" b="b"/>
              <a:pathLst>
                <a:path w="4242816" h="923925">
                  <a:moveTo>
                    <a:pt x="0" y="0"/>
                  </a:moveTo>
                  <a:lnTo>
                    <a:pt x="4242816" y="0"/>
                  </a:lnTo>
                  <a:lnTo>
                    <a:pt x="4242816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478" b="-39478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4242816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3283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Slow Manual Entry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875520" y="6240780"/>
            <a:ext cx="3182112" cy="2468880"/>
            <a:chOff x="0" y="0"/>
            <a:chExt cx="4242816" cy="32918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242816" cy="3291840"/>
            </a:xfrm>
            <a:custGeom>
              <a:avLst/>
              <a:gdLst/>
              <a:ahLst/>
              <a:cxnLst/>
              <a:rect l="l" t="t" r="r" b="b"/>
              <a:pathLst>
                <a:path w="4242816" h="3291840">
                  <a:moveTo>
                    <a:pt x="0" y="0"/>
                  </a:moveTo>
                  <a:lnTo>
                    <a:pt x="4242816" y="0"/>
                  </a:lnTo>
                  <a:lnTo>
                    <a:pt x="424281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15" r="-49615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9875520" y="6183630"/>
            <a:ext cx="3182112" cy="2526030"/>
            <a:chOff x="0" y="0"/>
            <a:chExt cx="4242816" cy="33680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242816" cy="3368040"/>
            </a:xfrm>
            <a:custGeom>
              <a:avLst/>
              <a:gdLst/>
              <a:ahLst/>
              <a:cxnLst/>
              <a:rect l="l" t="t" r="r" b="b"/>
              <a:pathLst>
                <a:path w="4242816" h="3368040">
                  <a:moveTo>
                    <a:pt x="0" y="0"/>
                  </a:moveTo>
                  <a:lnTo>
                    <a:pt x="4242816" y="0"/>
                  </a:lnTo>
                  <a:lnTo>
                    <a:pt x="4242816" y="3368040"/>
                  </a:lnTo>
                  <a:lnTo>
                    <a:pt x="0" y="3368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850" r="-5185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76200"/>
              <a:ext cx="4242816" cy="3444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Ticket-based or operator-run barriers create bottlenecks at the gate.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716000" y="3360420"/>
            <a:ext cx="4005072" cy="5623560"/>
            <a:chOff x="0" y="0"/>
            <a:chExt cx="5340096" cy="74980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340096" cy="7498080"/>
            </a:xfrm>
            <a:custGeom>
              <a:avLst/>
              <a:gdLst/>
              <a:ahLst/>
              <a:cxnLst/>
              <a:rect l="l" t="t" r="r" b="b"/>
              <a:pathLst>
                <a:path w="5340096" h="7498080">
                  <a:moveTo>
                    <a:pt x="0" y="0"/>
                  </a:moveTo>
                  <a:lnTo>
                    <a:pt x="5340096" y="0"/>
                  </a:lnTo>
                  <a:lnTo>
                    <a:pt x="5340096" y="7498080"/>
                  </a:lnTo>
                  <a:lnTo>
                    <a:pt x="0" y="7498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3716000" y="3360420"/>
            <a:ext cx="4005072" cy="123444"/>
            <a:chOff x="0" y="0"/>
            <a:chExt cx="5340096" cy="16459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340096" cy="164592"/>
            </a:xfrm>
            <a:custGeom>
              <a:avLst/>
              <a:gdLst/>
              <a:ahLst/>
              <a:cxnLst/>
              <a:rect l="l" t="t" r="r" b="b"/>
              <a:pathLst>
                <a:path w="5340096" h="164592">
                  <a:moveTo>
                    <a:pt x="0" y="0"/>
                  </a:moveTo>
                  <a:lnTo>
                    <a:pt x="5340096" y="0"/>
                  </a:lnTo>
                  <a:lnTo>
                    <a:pt x="5340096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E8584F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4127480" y="3840480"/>
            <a:ext cx="1371600" cy="1371600"/>
            <a:chOff x="0" y="0"/>
            <a:chExt cx="1828800" cy="1828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5F8FA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4484096" y="4197096"/>
            <a:ext cx="658368" cy="658368"/>
            <a:chOff x="0" y="0"/>
            <a:chExt cx="877824" cy="877824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14127480" y="5486400"/>
            <a:ext cx="3182112" cy="685800"/>
            <a:chOff x="0" y="0"/>
            <a:chExt cx="4242816" cy="914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242816" cy="914400"/>
            </a:xfrm>
            <a:custGeom>
              <a:avLst/>
              <a:gdLst/>
              <a:ahLst/>
              <a:cxnLst/>
              <a:rect l="l" t="t" r="r" b="b"/>
              <a:pathLst>
                <a:path w="4242816" h="914400">
                  <a:moveTo>
                    <a:pt x="0" y="0"/>
                  </a:moveTo>
                  <a:lnTo>
                    <a:pt x="4242816" y="0"/>
                  </a:lnTo>
                  <a:lnTo>
                    <a:pt x="424281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347" b="-40348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14127480" y="5479256"/>
            <a:ext cx="3182112" cy="692944"/>
            <a:chOff x="0" y="0"/>
            <a:chExt cx="4242816" cy="92392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242816" cy="923925"/>
            </a:xfrm>
            <a:custGeom>
              <a:avLst/>
              <a:gdLst/>
              <a:ahLst/>
              <a:cxnLst/>
              <a:rect l="l" t="t" r="r" b="b"/>
              <a:pathLst>
                <a:path w="4242816" h="923925">
                  <a:moveTo>
                    <a:pt x="0" y="0"/>
                  </a:moveTo>
                  <a:lnTo>
                    <a:pt x="4242816" y="0"/>
                  </a:lnTo>
                  <a:lnTo>
                    <a:pt x="4242816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478" b="-39478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4242816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3283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Emergency Risk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4127480" y="6240780"/>
            <a:ext cx="3182112" cy="2468880"/>
            <a:chOff x="0" y="0"/>
            <a:chExt cx="4242816" cy="329184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242816" cy="3291840"/>
            </a:xfrm>
            <a:custGeom>
              <a:avLst/>
              <a:gdLst/>
              <a:ahLst/>
              <a:cxnLst/>
              <a:rect l="l" t="t" r="r" b="b"/>
              <a:pathLst>
                <a:path w="4242816" h="3291840">
                  <a:moveTo>
                    <a:pt x="0" y="0"/>
                  </a:moveTo>
                  <a:lnTo>
                    <a:pt x="4242816" y="0"/>
                  </a:lnTo>
                  <a:lnTo>
                    <a:pt x="424281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15" r="-49615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14127480" y="6183630"/>
            <a:ext cx="3182112" cy="2526030"/>
            <a:chOff x="0" y="0"/>
            <a:chExt cx="4242816" cy="336804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242816" cy="3368040"/>
            </a:xfrm>
            <a:custGeom>
              <a:avLst/>
              <a:gdLst/>
              <a:ahLst/>
              <a:cxnLst/>
              <a:rect l="l" t="t" r="r" b="b"/>
              <a:pathLst>
                <a:path w="4242816" h="3368040">
                  <a:moveTo>
                    <a:pt x="0" y="0"/>
                  </a:moveTo>
                  <a:lnTo>
                    <a:pt x="4242816" y="0"/>
                  </a:lnTo>
                  <a:lnTo>
                    <a:pt x="4242816" y="3368040"/>
                  </a:lnTo>
                  <a:lnTo>
                    <a:pt x="0" y="3368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850" r="-51850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76200"/>
              <a:ext cx="4242816" cy="3444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a fire or emergency, the parking cannot be evacuated quickly manual gates stay shut and cars get trapped.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5087600" cy="411480"/>
            <a:chOff x="0" y="0"/>
            <a:chExt cx="201168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16800" cy="548640"/>
            </a:xfrm>
            <a:custGeom>
              <a:avLst/>
              <a:gdLst/>
              <a:ahLst/>
              <a:cxnLst/>
              <a:rect l="l" t="t" r="r" b="b"/>
              <a:pathLst>
                <a:path w="20116800" h="54864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3953" b="-66395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0120" y="671512"/>
            <a:ext cx="15087600" cy="425768"/>
            <a:chOff x="0" y="0"/>
            <a:chExt cx="20116800" cy="5676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567690"/>
            </a:xfrm>
            <a:custGeom>
              <a:avLst/>
              <a:gdLst/>
              <a:ahLst/>
              <a:cxnLst/>
              <a:rect l="l" t="t" r="r" b="b"/>
              <a:pathLst>
                <a:path w="20116800" h="567690">
                  <a:moveTo>
                    <a:pt x="0" y="0"/>
                  </a:moveTo>
                  <a:lnTo>
                    <a:pt x="20116800" y="0"/>
                  </a:lnTo>
                  <a:lnTo>
                    <a:pt x="2011680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76" b="-64047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0116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02  ·  OUR ANSWER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1069848"/>
            <a:ext cx="16733520" cy="960120"/>
            <a:chOff x="0" y="0"/>
            <a:chExt cx="2231136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11361" cy="1280160"/>
            </a:xfrm>
            <a:custGeom>
              <a:avLst/>
              <a:gdLst/>
              <a:ahLst/>
              <a:cxnLst/>
              <a:rect l="l" t="t" r="r" b="b"/>
              <a:pathLst>
                <a:path w="22311361" h="1280160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9360" b="-28936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60120" y="1062704"/>
            <a:ext cx="16733520" cy="967264"/>
            <a:chOff x="0" y="0"/>
            <a:chExt cx="22311360" cy="1289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1361" cy="1289685"/>
            </a:xfrm>
            <a:custGeom>
              <a:avLst/>
              <a:gdLst/>
              <a:ahLst/>
              <a:cxnLst/>
              <a:rect l="l" t="t" r="r" b="b"/>
              <a:pathLst>
                <a:path w="22311361" h="1289685">
                  <a:moveTo>
                    <a:pt x="0" y="0"/>
                  </a:moveTo>
                  <a:lnTo>
                    <a:pt x="22311361" y="0"/>
                  </a:lnTo>
                  <a:lnTo>
                    <a:pt x="22311361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088" b="-28708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31136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3283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Proposed Solution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120" y="2221992"/>
            <a:ext cx="8778240" cy="1920240"/>
            <a:chOff x="0" y="0"/>
            <a:chExt cx="11704320" cy="2560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04320" cy="2560320"/>
            </a:xfrm>
            <a:custGeom>
              <a:avLst/>
              <a:gdLst/>
              <a:ahLst/>
              <a:cxnLst/>
              <a:rect l="l" t="t" r="r" b="b"/>
              <a:pathLst>
                <a:path w="11704320" h="2560320">
                  <a:moveTo>
                    <a:pt x="0" y="0"/>
                  </a:moveTo>
                  <a:lnTo>
                    <a:pt x="11704320" y="0"/>
                  </a:lnTo>
                  <a:lnTo>
                    <a:pt x="117043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012" b="-3901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60120" y="2150554"/>
            <a:ext cx="8778240" cy="1991677"/>
            <a:chOff x="0" y="0"/>
            <a:chExt cx="11704320" cy="26555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04320" cy="2655570"/>
            </a:xfrm>
            <a:custGeom>
              <a:avLst/>
              <a:gdLst/>
              <a:ahLst/>
              <a:cxnLst/>
              <a:rect l="l" t="t" r="r" b="b"/>
              <a:pathLst>
                <a:path w="11704320" h="2655570">
                  <a:moveTo>
                    <a:pt x="0" y="0"/>
                  </a:moveTo>
                  <a:lnTo>
                    <a:pt x="11704320" y="0"/>
                  </a:lnTo>
                  <a:lnTo>
                    <a:pt x="11704320" y="2655570"/>
                  </a:lnTo>
                  <a:lnTo>
                    <a:pt x="0" y="2655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879" b="-3587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1704320" cy="2750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0"/>
                </a:lnSpc>
              </a:pPr>
              <a:r>
                <a:rPr lang="en-US" sz="21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STM32-based system running FreeRTOS. IR sensors read every slot, RFID controls the gates, a flame sensor triggers automatic emergency opening, and an ESP-01 publishes live availability and exit receipts to a web dashboard.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0120" y="4361688"/>
            <a:ext cx="987552" cy="987552"/>
            <a:chOff x="0" y="0"/>
            <a:chExt cx="1316736" cy="13167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216885" y="4618453"/>
            <a:ext cx="474059" cy="474059"/>
            <a:chOff x="0" y="0"/>
            <a:chExt cx="632079" cy="632079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2167128" y="4320540"/>
            <a:ext cx="2743200" cy="548640"/>
            <a:chOff x="0" y="0"/>
            <a:chExt cx="365760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357" b="-47357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167128" y="4313396"/>
            <a:ext cx="2743200" cy="555784"/>
            <a:chOff x="0" y="0"/>
            <a:chExt cx="3657600" cy="7410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57600" cy="741045"/>
            </a:xfrm>
            <a:custGeom>
              <a:avLst/>
              <a:gdLst/>
              <a:ahLst/>
              <a:cxnLst/>
              <a:rect l="l" t="t" r="r" b="b"/>
              <a:pathLst>
                <a:path w="3657600" h="741045">
                  <a:moveTo>
                    <a:pt x="0" y="0"/>
                  </a:moveTo>
                  <a:lnTo>
                    <a:pt x="3657600" y="0"/>
                  </a:lnTo>
                  <a:lnTo>
                    <a:pt x="36576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72" b="-4617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36576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Detect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67128" y="4800600"/>
            <a:ext cx="7406640" cy="822960"/>
            <a:chOff x="0" y="0"/>
            <a:chExt cx="9875520" cy="10972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875520" cy="1097280"/>
            </a:xfrm>
            <a:custGeom>
              <a:avLst/>
              <a:gdLst/>
              <a:ahLst/>
              <a:cxnLst/>
              <a:rect l="l" t="t" r="r" b="b"/>
              <a:pathLst>
                <a:path w="9875520" h="1097280">
                  <a:moveTo>
                    <a:pt x="0" y="0"/>
                  </a:moveTo>
                  <a:lnTo>
                    <a:pt x="9875520" y="0"/>
                  </a:lnTo>
                  <a:lnTo>
                    <a:pt x="9875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243" b="-125244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2167128" y="4757738"/>
            <a:ext cx="7406640" cy="865823"/>
            <a:chOff x="0" y="0"/>
            <a:chExt cx="9875520" cy="115443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875520" cy="1154430"/>
            </a:xfrm>
            <a:custGeom>
              <a:avLst/>
              <a:gdLst/>
              <a:ahLst/>
              <a:cxnLst/>
              <a:rect l="l" t="t" r="r" b="b"/>
              <a:pathLst>
                <a:path w="9875520" h="1154430">
                  <a:moveTo>
                    <a:pt x="0" y="0"/>
                  </a:moveTo>
                  <a:lnTo>
                    <a:pt x="9875520" y="0"/>
                  </a:lnTo>
                  <a:lnTo>
                    <a:pt x="987552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683" b="-11668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9875520" cy="1211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 slot sensors track every space as occupied or free.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0120" y="5637276"/>
            <a:ext cx="987552" cy="987552"/>
            <a:chOff x="0" y="0"/>
            <a:chExt cx="1316736" cy="131673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216885" y="5894041"/>
            <a:ext cx="474059" cy="474059"/>
            <a:chOff x="0" y="0"/>
            <a:chExt cx="632079" cy="632079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2167128" y="5596128"/>
            <a:ext cx="2743200" cy="548640"/>
            <a:chOff x="0" y="0"/>
            <a:chExt cx="3657600" cy="731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357" b="-47357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2167128" y="5588984"/>
            <a:ext cx="2743200" cy="555784"/>
            <a:chOff x="0" y="0"/>
            <a:chExt cx="3657600" cy="74104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57600" cy="741045"/>
            </a:xfrm>
            <a:custGeom>
              <a:avLst/>
              <a:gdLst/>
              <a:ahLst/>
              <a:cxnLst/>
              <a:rect l="l" t="t" r="r" b="b"/>
              <a:pathLst>
                <a:path w="3657600" h="741045">
                  <a:moveTo>
                    <a:pt x="0" y="0"/>
                  </a:moveTo>
                  <a:lnTo>
                    <a:pt x="3657600" y="0"/>
                  </a:lnTo>
                  <a:lnTo>
                    <a:pt x="36576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72" b="-46172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36576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Authenticate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167128" y="6076188"/>
            <a:ext cx="7406640" cy="822960"/>
            <a:chOff x="0" y="0"/>
            <a:chExt cx="9875520" cy="10972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875520" cy="1097280"/>
            </a:xfrm>
            <a:custGeom>
              <a:avLst/>
              <a:gdLst/>
              <a:ahLst/>
              <a:cxnLst/>
              <a:rect l="l" t="t" r="r" b="b"/>
              <a:pathLst>
                <a:path w="9875520" h="1097280">
                  <a:moveTo>
                    <a:pt x="0" y="0"/>
                  </a:moveTo>
                  <a:lnTo>
                    <a:pt x="9875520" y="0"/>
                  </a:lnTo>
                  <a:lnTo>
                    <a:pt x="9875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243" b="-125244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2167128" y="6033325"/>
            <a:ext cx="7406640" cy="865823"/>
            <a:chOff x="0" y="0"/>
            <a:chExt cx="9875520" cy="115443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875520" cy="1154430"/>
            </a:xfrm>
            <a:custGeom>
              <a:avLst/>
              <a:gdLst/>
              <a:ahLst/>
              <a:cxnLst/>
              <a:rect l="l" t="t" r="r" b="b"/>
              <a:pathLst>
                <a:path w="9875520" h="1154430">
                  <a:moveTo>
                    <a:pt x="0" y="0"/>
                  </a:moveTo>
                  <a:lnTo>
                    <a:pt x="9875520" y="0"/>
                  </a:lnTo>
                  <a:lnTo>
                    <a:pt x="987552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683" b="-11668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9875520" cy="1211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RFID readers verify cards at the entry and exit gates.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60120" y="6912864"/>
            <a:ext cx="987552" cy="987552"/>
            <a:chOff x="0" y="0"/>
            <a:chExt cx="1316736" cy="131673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16885" y="7169629"/>
            <a:ext cx="474059" cy="474059"/>
            <a:chOff x="0" y="0"/>
            <a:chExt cx="632079" cy="632079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2167128" y="6871716"/>
            <a:ext cx="2743200" cy="548640"/>
            <a:chOff x="0" y="0"/>
            <a:chExt cx="3657600" cy="7315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357" b="-47357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2167128" y="6864572"/>
            <a:ext cx="2743200" cy="555784"/>
            <a:chOff x="0" y="0"/>
            <a:chExt cx="3657600" cy="74104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657600" cy="741045"/>
            </a:xfrm>
            <a:custGeom>
              <a:avLst/>
              <a:gdLst/>
              <a:ahLst/>
              <a:cxnLst/>
              <a:rect l="l" t="t" r="r" b="b"/>
              <a:pathLst>
                <a:path w="3657600" h="741045">
                  <a:moveTo>
                    <a:pt x="0" y="0"/>
                  </a:moveTo>
                  <a:lnTo>
                    <a:pt x="3657600" y="0"/>
                  </a:lnTo>
                  <a:lnTo>
                    <a:pt x="36576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72" b="-4617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36576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Protect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167128" y="7351776"/>
            <a:ext cx="7406640" cy="822960"/>
            <a:chOff x="0" y="0"/>
            <a:chExt cx="9875520" cy="109728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875520" cy="1097280"/>
            </a:xfrm>
            <a:custGeom>
              <a:avLst/>
              <a:gdLst/>
              <a:ahLst/>
              <a:cxnLst/>
              <a:rect l="l" t="t" r="r" b="b"/>
              <a:pathLst>
                <a:path w="9875520" h="1097280">
                  <a:moveTo>
                    <a:pt x="0" y="0"/>
                  </a:moveTo>
                  <a:lnTo>
                    <a:pt x="9875520" y="0"/>
                  </a:lnTo>
                  <a:lnTo>
                    <a:pt x="9875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243" b="-125244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2167128" y="7308914"/>
            <a:ext cx="7406640" cy="865823"/>
            <a:chOff x="0" y="0"/>
            <a:chExt cx="9875520" cy="115443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875520" cy="1154430"/>
            </a:xfrm>
            <a:custGeom>
              <a:avLst/>
              <a:gdLst/>
              <a:ahLst/>
              <a:cxnLst/>
              <a:rect l="l" t="t" r="r" b="b"/>
              <a:pathLst>
                <a:path w="9875520" h="1154430">
                  <a:moveTo>
                    <a:pt x="0" y="0"/>
                  </a:moveTo>
                  <a:lnTo>
                    <a:pt x="9875520" y="0"/>
                  </a:lnTo>
                  <a:lnTo>
                    <a:pt x="987552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683" b="-11668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9875520" cy="1211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flame sensor fires the buzzer and opens the gates instantly in an emergency.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60120" y="8188452"/>
            <a:ext cx="987552" cy="987552"/>
            <a:chOff x="0" y="0"/>
            <a:chExt cx="1316736" cy="131673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216885" y="8445217"/>
            <a:ext cx="474059" cy="474059"/>
            <a:chOff x="0" y="0"/>
            <a:chExt cx="632079" cy="632079"/>
          </a:xfrm>
        </p:grpSpPr>
        <p:sp>
          <p:nvSpPr>
            <p:cNvPr id="62" name="Freeform 62" descr="preencoded.png"/>
            <p:cNvSpPr/>
            <p:nvPr/>
          </p:nvSpPr>
          <p:spPr>
            <a:xfrm>
              <a:off x="0" y="0"/>
              <a:ext cx="632079" cy="632079"/>
            </a:xfrm>
            <a:custGeom>
              <a:avLst/>
              <a:gdLst/>
              <a:ahLst/>
              <a:cxnLst/>
              <a:rect l="l" t="t" r="r" b="b"/>
              <a:pathLst>
                <a:path w="632079" h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2167128" y="8147304"/>
            <a:ext cx="2743200" cy="548640"/>
            <a:chOff x="0" y="0"/>
            <a:chExt cx="3657600" cy="7315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357" b="-47357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2167128" y="8140160"/>
            <a:ext cx="2743200" cy="555784"/>
            <a:chOff x="0" y="0"/>
            <a:chExt cx="3657600" cy="74104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657600" cy="741045"/>
            </a:xfrm>
            <a:custGeom>
              <a:avLst/>
              <a:gdLst/>
              <a:ahLst/>
              <a:cxnLst/>
              <a:rect l="l" t="t" r="r" b="b"/>
              <a:pathLst>
                <a:path w="3657600" h="741045">
                  <a:moveTo>
                    <a:pt x="0" y="0"/>
                  </a:moveTo>
                  <a:lnTo>
                    <a:pt x="3657600" y="0"/>
                  </a:lnTo>
                  <a:lnTo>
                    <a:pt x="36576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72" b="-46172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36576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Inform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167128" y="8627364"/>
            <a:ext cx="7406640" cy="822960"/>
            <a:chOff x="0" y="0"/>
            <a:chExt cx="9875520" cy="10972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875520" cy="1097280"/>
            </a:xfrm>
            <a:custGeom>
              <a:avLst/>
              <a:gdLst/>
              <a:ahLst/>
              <a:cxnLst/>
              <a:rect l="l" t="t" r="r" b="b"/>
              <a:pathLst>
                <a:path w="9875520" h="1097280">
                  <a:moveTo>
                    <a:pt x="0" y="0"/>
                  </a:moveTo>
                  <a:lnTo>
                    <a:pt x="9875520" y="0"/>
                  </a:lnTo>
                  <a:lnTo>
                    <a:pt x="9875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243" b="-125244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2167128" y="8584502"/>
            <a:ext cx="7406640" cy="865823"/>
            <a:chOff x="0" y="0"/>
            <a:chExt cx="9875520" cy="115443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875520" cy="1154430"/>
            </a:xfrm>
            <a:custGeom>
              <a:avLst/>
              <a:gdLst/>
              <a:ahLst/>
              <a:cxnLst/>
              <a:rect l="l" t="t" r="r" b="b"/>
              <a:pathLst>
                <a:path w="9875520" h="1154430">
                  <a:moveTo>
                    <a:pt x="0" y="0"/>
                  </a:moveTo>
                  <a:lnTo>
                    <a:pt x="9875520" y="0"/>
                  </a:lnTo>
                  <a:lnTo>
                    <a:pt x="987552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683" b="-116683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57150"/>
              <a:ext cx="9875520" cy="1211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LCD assigns a slot; the dashboard shows free spaces and prints an exit receipt.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287000" y="1325813"/>
            <a:ext cx="7063740" cy="8069647"/>
            <a:chOff x="0" y="0"/>
            <a:chExt cx="9418320" cy="10759529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418320" cy="10759529"/>
            </a:xfrm>
            <a:custGeom>
              <a:avLst/>
              <a:gdLst/>
              <a:ahLst/>
              <a:cxnLst/>
              <a:rect l="l" t="t" r="r" b="b"/>
              <a:pathLst>
                <a:path w="9418320" h="10759529">
                  <a:moveTo>
                    <a:pt x="0" y="0"/>
                  </a:moveTo>
                  <a:lnTo>
                    <a:pt x="9418320" y="0"/>
                  </a:lnTo>
                  <a:lnTo>
                    <a:pt x="9418320" y="10759529"/>
                  </a:lnTo>
                  <a:lnTo>
                    <a:pt x="0" y="10759529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0287000" y="1474184"/>
            <a:ext cx="7063740" cy="555784"/>
            <a:chOff x="0" y="0"/>
            <a:chExt cx="9418320" cy="74104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418320" cy="741045"/>
            </a:xfrm>
            <a:custGeom>
              <a:avLst/>
              <a:gdLst/>
              <a:ahLst/>
              <a:cxnLst/>
              <a:rect l="l" t="t" r="r" b="b"/>
              <a:pathLst>
                <a:path w="9418320" h="741045">
                  <a:moveTo>
                    <a:pt x="0" y="0"/>
                  </a:moveTo>
                  <a:lnTo>
                    <a:pt x="9418320" y="0"/>
                  </a:lnTo>
                  <a:lnTo>
                    <a:pt x="941832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645" b="-197645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9525"/>
              <a:ext cx="94183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450">
                  <a:solidFill>
                    <a:srgbClr val="2EC4B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SYSTEM FLOW</a:t>
              </a:r>
            </a:p>
          </p:txBody>
        </p:sp>
      </p:grpSp>
      <p:sp>
        <p:nvSpPr>
          <p:cNvPr id="78" name="Freeform 78"/>
          <p:cNvSpPr/>
          <p:nvPr/>
        </p:nvSpPr>
        <p:spPr>
          <a:xfrm>
            <a:off x="10949464" y="3337084"/>
            <a:ext cx="5738812" cy="951928"/>
          </a:xfrm>
          <a:custGeom>
            <a:avLst/>
            <a:gdLst/>
            <a:ahLst/>
            <a:cxnLst/>
            <a:rect l="l" t="t" r="r" b="b"/>
            <a:pathLst>
              <a:path w="5738812" h="951928">
                <a:moveTo>
                  <a:pt x="0" y="0"/>
                </a:moveTo>
                <a:lnTo>
                  <a:pt x="5738812" y="0"/>
                </a:lnTo>
                <a:lnTo>
                  <a:pt x="5738812" y="951928"/>
                </a:lnTo>
                <a:lnTo>
                  <a:pt x="0" y="951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9" name="Group 79"/>
          <p:cNvGrpSpPr/>
          <p:nvPr/>
        </p:nvGrpSpPr>
        <p:grpSpPr>
          <a:xfrm>
            <a:off x="10972800" y="3360420"/>
            <a:ext cx="5692140" cy="905256"/>
            <a:chOff x="0" y="0"/>
            <a:chExt cx="7589520" cy="120700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589520" cy="1207008"/>
            </a:xfrm>
            <a:custGeom>
              <a:avLst/>
              <a:gdLst/>
              <a:ahLst/>
              <a:cxnLst/>
              <a:rect l="l" t="t" r="r" b="b"/>
              <a:pathLst>
                <a:path w="7589520" h="1207008">
                  <a:moveTo>
                    <a:pt x="0" y="0"/>
                  </a:moveTo>
                  <a:lnTo>
                    <a:pt x="7589520" y="0"/>
                  </a:lnTo>
                  <a:lnTo>
                    <a:pt x="7589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434" b="-72433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10972800" y="3324701"/>
            <a:ext cx="5692140" cy="940975"/>
            <a:chOff x="0" y="0"/>
            <a:chExt cx="7589520" cy="1254633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589520" cy="1254633"/>
            </a:xfrm>
            <a:custGeom>
              <a:avLst/>
              <a:gdLst/>
              <a:ahLst/>
              <a:cxnLst/>
              <a:rect l="l" t="t" r="r" b="b"/>
              <a:pathLst>
                <a:path w="7589520" h="1254633">
                  <a:moveTo>
                    <a:pt x="0" y="0"/>
                  </a:moveTo>
                  <a:lnTo>
                    <a:pt x="7589520" y="0"/>
                  </a:lnTo>
                  <a:lnTo>
                    <a:pt x="7589520" y="1254633"/>
                  </a:lnTo>
                  <a:lnTo>
                    <a:pt x="0" y="12546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868" b="-67868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7589520" cy="13022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RFID / IR / Flame Sensors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972800" y="4265676"/>
            <a:ext cx="5692140" cy="534924"/>
            <a:chOff x="0" y="0"/>
            <a:chExt cx="7589520" cy="71323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589520" cy="713232"/>
            </a:xfrm>
            <a:custGeom>
              <a:avLst/>
              <a:gdLst/>
              <a:ahLst/>
              <a:cxnLst/>
              <a:rect l="l" t="t" r="r" b="b"/>
              <a:pathLst>
                <a:path w="7589520" h="713232">
                  <a:moveTo>
                    <a:pt x="0" y="0"/>
                  </a:moveTo>
                  <a:lnTo>
                    <a:pt x="7589520" y="0"/>
                  </a:lnTo>
                  <a:lnTo>
                    <a:pt x="758952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197" b="-157195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10972800" y="4229957"/>
            <a:ext cx="5692140" cy="570643"/>
            <a:chOff x="0" y="0"/>
            <a:chExt cx="7589520" cy="760857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589520" cy="760857"/>
            </a:xfrm>
            <a:custGeom>
              <a:avLst/>
              <a:gdLst/>
              <a:ahLst/>
              <a:cxnLst/>
              <a:rect l="l" t="t" r="r" b="b"/>
              <a:pathLst>
                <a:path w="7589520" h="760857">
                  <a:moveTo>
                    <a:pt x="0" y="0"/>
                  </a:moveTo>
                  <a:lnTo>
                    <a:pt x="7589520" y="0"/>
                  </a:lnTo>
                  <a:lnTo>
                    <a:pt x="7589520" y="760857"/>
                  </a:lnTo>
                  <a:lnTo>
                    <a:pt x="0" y="7608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362" b="-144362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7589520" cy="80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EC4B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sp>
        <p:nvSpPr>
          <p:cNvPr id="89" name="Freeform 89"/>
          <p:cNvSpPr/>
          <p:nvPr/>
        </p:nvSpPr>
        <p:spPr>
          <a:xfrm>
            <a:off x="10949464" y="4777264"/>
            <a:ext cx="5738812" cy="951928"/>
          </a:xfrm>
          <a:custGeom>
            <a:avLst/>
            <a:gdLst/>
            <a:ahLst/>
            <a:cxnLst/>
            <a:rect l="l" t="t" r="r" b="b"/>
            <a:pathLst>
              <a:path w="5738812" h="951928">
                <a:moveTo>
                  <a:pt x="0" y="0"/>
                </a:moveTo>
                <a:lnTo>
                  <a:pt x="5738812" y="0"/>
                </a:lnTo>
                <a:lnTo>
                  <a:pt x="5738812" y="951928"/>
                </a:lnTo>
                <a:lnTo>
                  <a:pt x="0" y="9519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0" name="Group 90"/>
          <p:cNvGrpSpPr/>
          <p:nvPr/>
        </p:nvGrpSpPr>
        <p:grpSpPr>
          <a:xfrm>
            <a:off x="10972800" y="4800600"/>
            <a:ext cx="5692140" cy="905256"/>
            <a:chOff x="0" y="0"/>
            <a:chExt cx="7589520" cy="1207008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7589520" cy="1207008"/>
            </a:xfrm>
            <a:custGeom>
              <a:avLst/>
              <a:gdLst/>
              <a:ahLst/>
              <a:cxnLst/>
              <a:rect l="l" t="t" r="r" b="b"/>
              <a:pathLst>
                <a:path w="7589520" h="1207008">
                  <a:moveTo>
                    <a:pt x="0" y="0"/>
                  </a:moveTo>
                  <a:lnTo>
                    <a:pt x="7589520" y="0"/>
                  </a:lnTo>
                  <a:lnTo>
                    <a:pt x="7589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434" b="-72433"/>
              </a:stretch>
            </a:blipFill>
          </p:spPr>
        </p:sp>
      </p:grpSp>
      <p:grpSp>
        <p:nvGrpSpPr>
          <p:cNvPr id="92" name="Group 92"/>
          <p:cNvGrpSpPr/>
          <p:nvPr/>
        </p:nvGrpSpPr>
        <p:grpSpPr>
          <a:xfrm>
            <a:off x="10972800" y="4764881"/>
            <a:ext cx="5692140" cy="940975"/>
            <a:chOff x="0" y="0"/>
            <a:chExt cx="7589520" cy="1254633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7589520" cy="1254633"/>
            </a:xfrm>
            <a:custGeom>
              <a:avLst/>
              <a:gdLst/>
              <a:ahLst/>
              <a:cxnLst/>
              <a:rect l="l" t="t" r="r" b="b"/>
              <a:pathLst>
                <a:path w="7589520" h="1254633">
                  <a:moveTo>
                    <a:pt x="0" y="0"/>
                  </a:moveTo>
                  <a:lnTo>
                    <a:pt x="7589520" y="0"/>
                  </a:lnTo>
                  <a:lnTo>
                    <a:pt x="7589520" y="1254633"/>
                  </a:lnTo>
                  <a:lnTo>
                    <a:pt x="0" y="12546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868" b="-67868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7589520" cy="13022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STM32 Blackpill + FreeRTOS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972800" y="5705856"/>
            <a:ext cx="5692140" cy="534924"/>
            <a:chOff x="0" y="0"/>
            <a:chExt cx="7589520" cy="71323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7589520" cy="713232"/>
            </a:xfrm>
            <a:custGeom>
              <a:avLst/>
              <a:gdLst/>
              <a:ahLst/>
              <a:cxnLst/>
              <a:rect l="l" t="t" r="r" b="b"/>
              <a:pathLst>
                <a:path w="7589520" h="713232">
                  <a:moveTo>
                    <a:pt x="0" y="0"/>
                  </a:moveTo>
                  <a:lnTo>
                    <a:pt x="7589520" y="0"/>
                  </a:lnTo>
                  <a:lnTo>
                    <a:pt x="758952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197" b="-157195"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>
            <a:off x="10972800" y="5670137"/>
            <a:ext cx="5692140" cy="570643"/>
            <a:chOff x="0" y="0"/>
            <a:chExt cx="7589520" cy="76085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589520" cy="760857"/>
            </a:xfrm>
            <a:custGeom>
              <a:avLst/>
              <a:gdLst/>
              <a:ahLst/>
              <a:cxnLst/>
              <a:rect l="l" t="t" r="r" b="b"/>
              <a:pathLst>
                <a:path w="7589520" h="760857">
                  <a:moveTo>
                    <a:pt x="0" y="0"/>
                  </a:moveTo>
                  <a:lnTo>
                    <a:pt x="7589520" y="0"/>
                  </a:lnTo>
                  <a:lnTo>
                    <a:pt x="7589520" y="760857"/>
                  </a:lnTo>
                  <a:lnTo>
                    <a:pt x="0" y="7608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362" b="-144362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47625"/>
              <a:ext cx="7589520" cy="80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EC4B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sp>
        <p:nvSpPr>
          <p:cNvPr id="100" name="Freeform 100"/>
          <p:cNvSpPr/>
          <p:nvPr/>
        </p:nvSpPr>
        <p:spPr>
          <a:xfrm>
            <a:off x="10949464" y="6217444"/>
            <a:ext cx="5738812" cy="951929"/>
          </a:xfrm>
          <a:custGeom>
            <a:avLst/>
            <a:gdLst/>
            <a:ahLst/>
            <a:cxnLst/>
            <a:rect l="l" t="t" r="r" b="b"/>
            <a:pathLst>
              <a:path w="5738812" h="951929">
                <a:moveTo>
                  <a:pt x="0" y="0"/>
                </a:moveTo>
                <a:lnTo>
                  <a:pt x="5738812" y="0"/>
                </a:lnTo>
                <a:lnTo>
                  <a:pt x="5738812" y="951928"/>
                </a:lnTo>
                <a:lnTo>
                  <a:pt x="0" y="951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1" name="Group 101"/>
          <p:cNvGrpSpPr/>
          <p:nvPr/>
        </p:nvGrpSpPr>
        <p:grpSpPr>
          <a:xfrm>
            <a:off x="10972800" y="6240780"/>
            <a:ext cx="5692140" cy="905256"/>
            <a:chOff x="0" y="0"/>
            <a:chExt cx="7589520" cy="1207008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7589520" cy="1207008"/>
            </a:xfrm>
            <a:custGeom>
              <a:avLst/>
              <a:gdLst/>
              <a:ahLst/>
              <a:cxnLst/>
              <a:rect l="l" t="t" r="r" b="b"/>
              <a:pathLst>
                <a:path w="7589520" h="1207008">
                  <a:moveTo>
                    <a:pt x="0" y="0"/>
                  </a:moveTo>
                  <a:lnTo>
                    <a:pt x="7589520" y="0"/>
                  </a:lnTo>
                  <a:lnTo>
                    <a:pt x="7589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434" b="-72433"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10972800" y="6205061"/>
            <a:ext cx="5692140" cy="940975"/>
            <a:chOff x="0" y="0"/>
            <a:chExt cx="7589520" cy="1254633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7589520" cy="1254633"/>
            </a:xfrm>
            <a:custGeom>
              <a:avLst/>
              <a:gdLst/>
              <a:ahLst/>
              <a:cxnLst/>
              <a:rect l="l" t="t" r="r" b="b"/>
              <a:pathLst>
                <a:path w="7589520" h="1254633">
                  <a:moveTo>
                    <a:pt x="0" y="0"/>
                  </a:moveTo>
                  <a:lnTo>
                    <a:pt x="7589520" y="0"/>
                  </a:lnTo>
                  <a:lnTo>
                    <a:pt x="7589520" y="1254633"/>
                  </a:lnTo>
                  <a:lnTo>
                    <a:pt x="0" y="12546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868" b="-67868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47625"/>
              <a:ext cx="7589520" cy="13022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ESP-01 Wi-Fi Module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0972800" y="7146036"/>
            <a:ext cx="5692140" cy="534924"/>
            <a:chOff x="0" y="0"/>
            <a:chExt cx="7589520" cy="713232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7589520" cy="713232"/>
            </a:xfrm>
            <a:custGeom>
              <a:avLst/>
              <a:gdLst/>
              <a:ahLst/>
              <a:cxnLst/>
              <a:rect l="l" t="t" r="r" b="b"/>
              <a:pathLst>
                <a:path w="7589520" h="713232">
                  <a:moveTo>
                    <a:pt x="0" y="0"/>
                  </a:moveTo>
                  <a:lnTo>
                    <a:pt x="7589520" y="0"/>
                  </a:lnTo>
                  <a:lnTo>
                    <a:pt x="758952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197" b="-157195"/>
              </a:stretch>
            </a:blipFill>
          </p:spPr>
        </p:sp>
      </p:grpSp>
      <p:grpSp>
        <p:nvGrpSpPr>
          <p:cNvPr id="108" name="Group 108"/>
          <p:cNvGrpSpPr/>
          <p:nvPr/>
        </p:nvGrpSpPr>
        <p:grpSpPr>
          <a:xfrm>
            <a:off x="10972800" y="7110317"/>
            <a:ext cx="5692140" cy="570643"/>
            <a:chOff x="0" y="0"/>
            <a:chExt cx="7589520" cy="760857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7589520" cy="760857"/>
            </a:xfrm>
            <a:custGeom>
              <a:avLst/>
              <a:gdLst/>
              <a:ahLst/>
              <a:cxnLst/>
              <a:rect l="l" t="t" r="r" b="b"/>
              <a:pathLst>
                <a:path w="7589520" h="760857">
                  <a:moveTo>
                    <a:pt x="0" y="0"/>
                  </a:moveTo>
                  <a:lnTo>
                    <a:pt x="7589520" y="0"/>
                  </a:lnTo>
                  <a:lnTo>
                    <a:pt x="7589520" y="760857"/>
                  </a:lnTo>
                  <a:lnTo>
                    <a:pt x="0" y="7608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362" b="-144362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47625"/>
              <a:ext cx="7589520" cy="80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EC4B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sp>
        <p:nvSpPr>
          <p:cNvPr id="111" name="Freeform 111"/>
          <p:cNvSpPr/>
          <p:nvPr/>
        </p:nvSpPr>
        <p:spPr>
          <a:xfrm>
            <a:off x="10949464" y="7657624"/>
            <a:ext cx="5738812" cy="951929"/>
          </a:xfrm>
          <a:custGeom>
            <a:avLst/>
            <a:gdLst/>
            <a:ahLst/>
            <a:cxnLst/>
            <a:rect l="l" t="t" r="r" b="b"/>
            <a:pathLst>
              <a:path w="5738812" h="951929">
                <a:moveTo>
                  <a:pt x="0" y="0"/>
                </a:moveTo>
                <a:lnTo>
                  <a:pt x="5738812" y="0"/>
                </a:lnTo>
                <a:lnTo>
                  <a:pt x="5738812" y="951928"/>
                </a:lnTo>
                <a:lnTo>
                  <a:pt x="0" y="9519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12" name="Group 112"/>
          <p:cNvGrpSpPr/>
          <p:nvPr/>
        </p:nvGrpSpPr>
        <p:grpSpPr>
          <a:xfrm>
            <a:off x="10972800" y="7680960"/>
            <a:ext cx="5692140" cy="905256"/>
            <a:chOff x="0" y="0"/>
            <a:chExt cx="7589520" cy="1207008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7589520" cy="1207008"/>
            </a:xfrm>
            <a:custGeom>
              <a:avLst/>
              <a:gdLst/>
              <a:ahLst/>
              <a:cxnLst/>
              <a:rect l="l" t="t" r="r" b="b"/>
              <a:pathLst>
                <a:path w="7589520" h="1207008">
                  <a:moveTo>
                    <a:pt x="0" y="0"/>
                  </a:moveTo>
                  <a:lnTo>
                    <a:pt x="7589520" y="0"/>
                  </a:lnTo>
                  <a:lnTo>
                    <a:pt x="7589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434" b="-72433"/>
              </a:stretch>
            </a:blipFill>
          </p:spPr>
        </p:sp>
      </p:grpSp>
      <p:grpSp>
        <p:nvGrpSpPr>
          <p:cNvPr id="114" name="Group 114"/>
          <p:cNvGrpSpPr/>
          <p:nvPr/>
        </p:nvGrpSpPr>
        <p:grpSpPr>
          <a:xfrm>
            <a:off x="10972800" y="7645241"/>
            <a:ext cx="5692140" cy="940975"/>
            <a:chOff x="0" y="0"/>
            <a:chExt cx="7589520" cy="1254633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7589520" cy="1254633"/>
            </a:xfrm>
            <a:custGeom>
              <a:avLst/>
              <a:gdLst/>
              <a:ahLst/>
              <a:cxnLst/>
              <a:rect l="l" t="t" r="r" b="b"/>
              <a:pathLst>
                <a:path w="7589520" h="1254633">
                  <a:moveTo>
                    <a:pt x="0" y="0"/>
                  </a:moveTo>
                  <a:lnTo>
                    <a:pt x="7589520" y="0"/>
                  </a:lnTo>
                  <a:lnTo>
                    <a:pt x="7589520" y="1254633"/>
                  </a:lnTo>
                  <a:lnTo>
                    <a:pt x="0" y="12546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868" b="-67868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47625"/>
              <a:ext cx="7589520" cy="13022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Dashboard</a:t>
              </a:r>
            </a:p>
          </p:txBody>
        </p:sp>
      </p:grpSp>
      <p:sp>
        <p:nvSpPr>
          <p:cNvPr id="117" name="Freeform 117"/>
          <p:cNvSpPr/>
          <p:nvPr/>
        </p:nvSpPr>
        <p:spPr>
          <a:xfrm>
            <a:off x="10972800" y="2042350"/>
            <a:ext cx="5738812" cy="951928"/>
          </a:xfrm>
          <a:custGeom>
            <a:avLst/>
            <a:gdLst/>
            <a:ahLst/>
            <a:cxnLst/>
            <a:rect l="l" t="t" r="r" b="b"/>
            <a:pathLst>
              <a:path w="5738812" h="951928">
                <a:moveTo>
                  <a:pt x="0" y="0"/>
                </a:moveTo>
                <a:lnTo>
                  <a:pt x="5738812" y="0"/>
                </a:lnTo>
                <a:lnTo>
                  <a:pt x="5738812" y="951929"/>
                </a:lnTo>
                <a:lnTo>
                  <a:pt x="0" y="9519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18" name="Group 118"/>
          <p:cNvGrpSpPr/>
          <p:nvPr/>
        </p:nvGrpSpPr>
        <p:grpSpPr>
          <a:xfrm>
            <a:off x="10996136" y="2065687"/>
            <a:ext cx="5692140" cy="905256"/>
            <a:chOff x="0" y="0"/>
            <a:chExt cx="7589520" cy="1207008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7589520" cy="1207008"/>
            </a:xfrm>
            <a:custGeom>
              <a:avLst/>
              <a:gdLst/>
              <a:ahLst/>
              <a:cxnLst/>
              <a:rect l="l" t="t" r="r" b="b"/>
              <a:pathLst>
                <a:path w="7589520" h="1207008">
                  <a:moveTo>
                    <a:pt x="0" y="0"/>
                  </a:moveTo>
                  <a:lnTo>
                    <a:pt x="7589520" y="0"/>
                  </a:lnTo>
                  <a:lnTo>
                    <a:pt x="7589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434" b="-72433"/>
              </a:stretch>
            </a:blipFill>
          </p:spPr>
        </p:sp>
      </p:grpSp>
      <p:grpSp>
        <p:nvGrpSpPr>
          <p:cNvPr id="120" name="Group 120"/>
          <p:cNvGrpSpPr/>
          <p:nvPr/>
        </p:nvGrpSpPr>
        <p:grpSpPr>
          <a:xfrm>
            <a:off x="10996136" y="2029968"/>
            <a:ext cx="5692140" cy="940975"/>
            <a:chOff x="0" y="0"/>
            <a:chExt cx="7589520" cy="1254633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7589520" cy="1254633"/>
            </a:xfrm>
            <a:custGeom>
              <a:avLst/>
              <a:gdLst/>
              <a:ahLst/>
              <a:cxnLst/>
              <a:rect l="l" t="t" r="r" b="b"/>
              <a:pathLst>
                <a:path w="7589520" h="1254633">
                  <a:moveTo>
                    <a:pt x="0" y="0"/>
                  </a:moveTo>
                  <a:lnTo>
                    <a:pt x="7589520" y="0"/>
                  </a:lnTo>
                  <a:lnTo>
                    <a:pt x="7589520" y="1254633"/>
                  </a:lnTo>
                  <a:lnTo>
                    <a:pt x="0" y="12546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868" b="-67868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47625"/>
              <a:ext cx="7589520" cy="13022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Ultrasonic /Servo Gate/LCD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0996136" y="2970943"/>
            <a:ext cx="5692140" cy="534924"/>
            <a:chOff x="0" y="0"/>
            <a:chExt cx="7589520" cy="713232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7589520" cy="713232"/>
            </a:xfrm>
            <a:custGeom>
              <a:avLst/>
              <a:gdLst/>
              <a:ahLst/>
              <a:cxnLst/>
              <a:rect l="l" t="t" r="r" b="b"/>
              <a:pathLst>
                <a:path w="7589520" h="713232">
                  <a:moveTo>
                    <a:pt x="0" y="0"/>
                  </a:moveTo>
                  <a:lnTo>
                    <a:pt x="7589520" y="0"/>
                  </a:lnTo>
                  <a:lnTo>
                    <a:pt x="758952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197" b="-157195"/>
              </a:stretch>
            </a:blipFill>
          </p:spPr>
        </p:sp>
      </p:grpSp>
      <p:grpSp>
        <p:nvGrpSpPr>
          <p:cNvPr id="125" name="Group 125"/>
          <p:cNvGrpSpPr/>
          <p:nvPr/>
        </p:nvGrpSpPr>
        <p:grpSpPr>
          <a:xfrm>
            <a:off x="10996136" y="2935224"/>
            <a:ext cx="5692140" cy="570643"/>
            <a:chOff x="0" y="0"/>
            <a:chExt cx="7589520" cy="760857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7589520" cy="760857"/>
            </a:xfrm>
            <a:custGeom>
              <a:avLst/>
              <a:gdLst/>
              <a:ahLst/>
              <a:cxnLst/>
              <a:rect l="l" t="t" r="r" b="b"/>
              <a:pathLst>
                <a:path w="7589520" h="760857">
                  <a:moveTo>
                    <a:pt x="0" y="0"/>
                  </a:moveTo>
                  <a:lnTo>
                    <a:pt x="7589520" y="0"/>
                  </a:lnTo>
                  <a:lnTo>
                    <a:pt x="7589520" y="760857"/>
                  </a:lnTo>
                  <a:lnTo>
                    <a:pt x="0" y="7608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362" b="-144362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47625"/>
              <a:ext cx="7589520" cy="80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EC4B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5087600" cy="411480"/>
            <a:chOff x="0" y="0"/>
            <a:chExt cx="201168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16800" cy="548640"/>
            </a:xfrm>
            <a:custGeom>
              <a:avLst/>
              <a:gdLst/>
              <a:ahLst/>
              <a:cxnLst/>
              <a:rect l="l" t="t" r="r" b="b"/>
              <a:pathLst>
                <a:path w="20116800" h="54864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3953" b="-66395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0120" y="671512"/>
            <a:ext cx="15087600" cy="425768"/>
            <a:chOff x="0" y="0"/>
            <a:chExt cx="20116800" cy="5676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567690"/>
            </a:xfrm>
            <a:custGeom>
              <a:avLst/>
              <a:gdLst/>
              <a:ahLst/>
              <a:cxnLst/>
              <a:rect l="l" t="t" r="r" b="b"/>
              <a:pathLst>
                <a:path w="20116800" h="567690">
                  <a:moveTo>
                    <a:pt x="0" y="0"/>
                  </a:moveTo>
                  <a:lnTo>
                    <a:pt x="20116800" y="0"/>
                  </a:lnTo>
                  <a:lnTo>
                    <a:pt x="2011680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76" b="-64047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0116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03  ·  EQUAL CONTRIBUTION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1069848"/>
            <a:ext cx="16733520" cy="960120"/>
            <a:chOff x="0" y="0"/>
            <a:chExt cx="2231136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11361" cy="1280160"/>
            </a:xfrm>
            <a:custGeom>
              <a:avLst/>
              <a:gdLst/>
              <a:ahLst/>
              <a:cxnLst/>
              <a:rect l="l" t="t" r="r" b="b"/>
              <a:pathLst>
                <a:path w="22311361" h="1280160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9360" b="-28936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60120" y="1062704"/>
            <a:ext cx="16733520" cy="967264"/>
            <a:chOff x="0" y="0"/>
            <a:chExt cx="22311360" cy="1289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1361" cy="1289685"/>
            </a:xfrm>
            <a:custGeom>
              <a:avLst/>
              <a:gdLst/>
              <a:ahLst/>
              <a:cxnLst/>
              <a:rect l="l" t="t" r="r" b="b"/>
              <a:pathLst>
                <a:path w="22311361" h="1289685">
                  <a:moveTo>
                    <a:pt x="0" y="0"/>
                  </a:moveTo>
                  <a:lnTo>
                    <a:pt x="22311361" y="0"/>
                  </a:lnTo>
                  <a:lnTo>
                    <a:pt x="22311361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088" b="-28708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31136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3283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Team &amp; Task Organization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120" y="2167128"/>
            <a:ext cx="16459200" cy="548640"/>
            <a:chOff x="0" y="0"/>
            <a:chExt cx="2194560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4144" b="-534145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60120" y="2131409"/>
            <a:ext cx="16459200" cy="584359"/>
            <a:chOff x="0" y="0"/>
            <a:chExt cx="21945600" cy="7791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779145"/>
            </a:xfrm>
            <a:custGeom>
              <a:avLst/>
              <a:gdLst/>
              <a:ahLst/>
              <a:cxnLst/>
              <a:rect l="l" t="t" r="r" b="b"/>
              <a:pathLst>
                <a:path w="21945600" h="779145">
                  <a:moveTo>
                    <a:pt x="0" y="0"/>
                  </a:moveTo>
                  <a:lnTo>
                    <a:pt x="21945600" y="0"/>
                  </a:lnTo>
                  <a:lnTo>
                    <a:pt x="219456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820" b="-49882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194560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member owns an equal share of hardware, firmware and defense.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0120" y="2948940"/>
            <a:ext cx="4005072" cy="5486400"/>
            <a:chOff x="0" y="0"/>
            <a:chExt cx="5340096" cy="7315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40096" cy="7315200"/>
            </a:xfrm>
            <a:custGeom>
              <a:avLst/>
              <a:gdLst/>
              <a:ahLst/>
              <a:cxnLst/>
              <a:rect l="l" t="t" r="r" b="b"/>
              <a:pathLst>
                <a:path w="5340096" h="7315200">
                  <a:moveTo>
                    <a:pt x="0" y="0"/>
                  </a:moveTo>
                  <a:lnTo>
                    <a:pt x="5340096" y="0"/>
                  </a:lnTo>
                  <a:lnTo>
                    <a:pt x="5340096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60120" y="2948940"/>
            <a:ext cx="4005072" cy="1261872"/>
            <a:chOff x="0" y="0"/>
            <a:chExt cx="5340096" cy="16824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40096" cy="1682496"/>
            </a:xfrm>
            <a:custGeom>
              <a:avLst/>
              <a:gdLst/>
              <a:ahLst/>
              <a:cxnLst/>
              <a:rect l="l" t="t" r="r" b="b"/>
              <a:pathLst>
                <a:path w="5340096" h="1682496">
                  <a:moveTo>
                    <a:pt x="0" y="0"/>
                  </a:moveTo>
                  <a:lnTo>
                    <a:pt x="5340096" y="0"/>
                  </a:lnTo>
                  <a:lnTo>
                    <a:pt x="5340096" y="1682496"/>
                  </a:lnTo>
                  <a:lnTo>
                    <a:pt x="0" y="1682496"/>
                  </a:ln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344168" y="3223260"/>
            <a:ext cx="713232" cy="713232"/>
            <a:chOff x="0" y="0"/>
            <a:chExt cx="950976" cy="9509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529610" y="3408702"/>
            <a:ext cx="342328" cy="342328"/>
            <a:chOff x="0" y="0"/>
            <a:chExt cx="456438" cy="456438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56438" cy="456438"/>
            </a:xfrm>
            <a:custGeom>
              <a:avLst/>
              <a:gdLst/>
              <a:ahLst/>
              <a:cxnLst/>
              <a:rect l="l" t="t" r="r" b="b"/>
              <a:pathLst>
                <a:path w="456438" h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2221992" y="3168396"/>
            <a:ext cx="2633472" cy="493776"/>
            <a:chOff x="0" y="0"/>
            <a:chExt cx="3511296" cy="65836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11296" cy="658368"/>
            </a:xfrm>
            <a:custGeom>
              <a:avLst/>
              <a:gdLst/>
              <a:ahLst/>
              <a:cxnLst/>
              <a:rect l="l" t="t" r="r" b="b"/>
              <a:pathLst>
                <a:path w="3511296" h="658368">
                  <a:moveTo>
                    <a:pt x="0" y="0"/>
                  </a:moveTo>
                  <a:lnTo>
                    <a:pt x="3511296" y="0"/>
                  </a:lnTo>
                  <a:lnTo>
                    <a:pt x="351129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848" b="-53848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2221992" y="3161252"/>
            <a:ext cx="2633472" cy="500920"/>
            <a:chOff x="0" y="0"/>
            <a:chExt cx="3511296" cy="66789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511296" cy="667893"/>
            </a:xfrm>
            <a:custGeom>
              <a:avLst/>
              <a:gdLst/>
              <a:ahLst/>
              <a:cxnLst/>
              <a:rect l="l" t="t" r="r" b="b"/>
              <a:pathLst>
                <a:path w="3511296" h="667893">
                  <a:moveTo>
                    <a:pt x="0" y="0"/>
                  </a:moveTo>
                  <a:lnTo>
                    <a:pt x="3511296" y="0"/>
                  </a:lnTo>
                  <a:lnTo>
                    <a:pt x="3511296" y="667893"/>
                  </a:lnTo>
                  <a:lnTo>
                    <a:pt x="0" y="66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38" b="-5243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511296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Caroll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221992" y="3662172"/>
            <a:ext cx="2633472" cy="411480"/>
            <a:chOff x="0" y="0"/>
            <a:chExt cx="3511296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511296" cy="548640"/>
            </a:xfrm>
            <a:custGeom>
              <a:avLst/>
              <a:gdLst/>
              <a:ahLst/>
              <a:cxnLst/>
              <a:rect l="l" t="t" r="r" b="b"/>
              <a:pathLst>
                <a:path w="3511296" h="548640">
                  <a:moveTo>
                    <a:pt x="0" y="0"/>
                  </a:moveTo>
                  <a:lnTo>
                    <a:pt x="3511296" y="0"/>
                  </a:lnTo>
                  <a:lnTo>
                    <a:pt x="35112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4618" b="-74618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2221992" y="3633597"/>
            <a:ext cx="2633472" cy="440055"/>
            <a:chOff x="0" y="0"/>
            <a:chExt cx="3511296" cy="5867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511296" cy="586740"/>
            </a:xfrm>
            <a:custGeom>
              <a:avLst/>
              <a:gdLst/>
              <a:ahLst/>
              <a:cxnLst/>
              <a:rect l="l" t="t" r="r" b="b"/>
              <a:pathLst>
                <a:path w="3511296" h="586740">
                  <a:moveTo>
                    <a:pt x="0" y="0"/>
                  </a:moveTo>
                  <a:lnTo>
                    <a:pt x="3511296" y="0"/>
                  </a:lnTo>
                  <a:lnTo>
                    <a:pt x="3511296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606" b="-6660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511296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EAF6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Slots &amp; Wireless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03020" y="4430268"/>
            <a:ext cx="3319272" cy="301752"/>
            <a:chOff x="0" y="0"/>
            <a:chExt cx="4425696" cy="4023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303020" y="4423124"/>
            <a:ext cx="3319272" cy="308896"/>
            <a:chOff x="0" y="0"/>
            <a:chExt cx="4425696" cy="41186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HARDWARE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03020" y="4718304"/>
            <a:ext cx="3319272" cy="905256"/>
            <a:chOff x="0" y="0"/>
            <a:chExt cx="4425696" cy="12070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303020" y="4696873"/>
            <a:ext cx="3319272" cy="926687"/>
            <a:chOff x="0" y="0"/>
            <a:chExt cx="4425696" cy="123558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 sensor array; ESP-01 ↔ STM32; ESP-01 network connection checks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03020" y="5760720"/>
            <a:ext cx="3319272" cy="301752"/>
            <a:chOff x="0" y="0"/>
            <a:chExt cx="4425696" cy="40233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303020" y="5753576"/>
            <a:ext cx="3319272" cy="308896"/>
            <a:chOff x="0" y="0"/>
            <a:chExt cx="4425696" cy="41186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FIRMWARE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03020" y="6048756"/>
            <a:ext cx="3319272" cy="905256"/>
            <a:chOff x="0" y="0"/>
            <a:chExt cx="4425696" cy="12070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303020" y="6027325"/>
            <a:ext cx="3319272" cy="926687"/>
            <a:chOff x="0" y="0"/>
            <a:chExt cx="4425696" cy="123558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Poll slots (free/occupied); forward status to ESP-01→ save logs &amp; auth roles to MongoDB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03020" y="7091172"/>
            <a:ext cx="3319272" cy="301752"/>
            <a:chOff x="0" y="0"/>
            <a:chExt cx="4425696" cy="40233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303020" y="7084028"/>
            <a:ext cx="3319272" cy="308896"/>
            <a:chOff x="0" y="0"/>
            <a:chExt cx="4425696" cy="41186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DEFENSE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03020" y="7379208"/>
            <a:ext cx="3319272" cy="905256"/>
            <a:chOff x="0" y="0"/>
            <a:chExt cx="4425696" cy="120700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303020" y="7357777"/>
            <a:ext cx="3319272" cy="926687"/>
            <a:chOff x="0" y="0"/>
            <a:chExt cx="4425696" cy="123558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Multi-zone pin scaling; wireless vs USB-TTL choice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212080" y="2948940"/>
            <a:ext cx="4005072" cy="5486400"/>
            <a:chOff x="0" y="0"/>
            <a:chExt cx="5340096" cy="73152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340096" cy="7315200"/>
            </a:xfrm>
            <a:custGeom>
              <a:avLst/>
              <a:gdLst/>
              <a:ahLst/>
              <a:cxnLst/>
              <a:rect l="l" t="t" r="r" b="b"/>
              <a:pathLst>
                <a:path w="5340096" h="7315200">
                  <a:moveTo>
                    <a:pt x="0" y="0"/>
                  </a:moveTo>
                  <a:lnTo>
                    <a:pt x="5340096" y="0"/>
                  </a:lnTo>
                  <a:lnTo>
                    <a:pt x="5340096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5212080" y="2948940"/>
            <a:ext cx="4005072" cy="1261872"/>
            <a:chOff x="0" y="0"/>
            <a:chExt cx="5340096" cy="168249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340096" cy="1682496"/>
            </a:xfrm>
            <a:custGeom>
              <a:avLst/>
              <a:gdLst/>
              <a:ahLst/>
              <a:cxnLst/>
              <a:rect l="l" t="t" r="r" b="b"/>
              <a:pathLst>
                <a:path w="5340096" h="1682496">
                  <a:moveTo>
                    <a:pt x="0" y="0"/>
                  </a:moveTo>
                  <a:lnTo>
                    <a:pt x="5340096" y="0"/>
                  </a:lnTo>
                  <a:lnTo>
                    <a:pt x="5340096" y="1682496"/>
                  </a:lnTo>
                  <a:lnTo>
                    <a:pt x="0" y="1682496"/>
                  </a:ln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5596128" y="3223260"/>
            <a:ext cx="713232" cy="713232"/>
            <a:chOff x="0" y="0"/>
            <a:chExt cx="950976" cy="95097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5781570" y="3408702"/>
            <a:ext cx="342328" cy="342328"/>
            <a:chOff x="0" y="0"/>
            <a:chExt cx="456438" cy="456438"/>
          </a:xfrm>
        </p:grpSpPr>
        <p:sp>
          <p:nvSpPr>
            <p:cNvPr id="72" name="Freeform 72" descr="preencoded.png"/>
            <p:cNvSpPr/>
            <p:nvPr/>
          </p:nvSpPr>
          <p:spPr>
            <a:xfrm>
              <a:off x="0" y="0"/>
              <a:ext cx="456438" cy="456438"/>
            </a:xfrm>
            <a:custGeom>
              <a:avLst/>
              <a:gdLst/>
              <a:ahLst/>
              <a:cxnLst/>
              <a:rect l="l" t="t" r="r" b="b"/>
              <a:pathLst>
                <a:path w="456438" h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6473952" y="3168396"/>
            <a:ext cx="2633472" cy="493776"/>
            <a:chOff x="0" y="0"/>
            <a:chExt cx="3511296" cy="65836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511296" cy="658368"/>
            </a:xfrm>
            <a:custGeom>
              <a:avLst/>
              <a:gdLst/>
              <a:ahLst/>
              <a:cxnLst/>
              <a:rect l="l" t="t" r="r" b="b"/>
              <a:pathLst>
                <a:path w="3511296" h="658368">
                  <a:moveTo>
                    <a:pt x="0" y="0"/>
                  </a:moveTo>
                  <a:lnTo>
                    <a:pt x="3511296" y="0"/>
                  </a:lnTo>
                  <a:lnTo>
                    <a:pt x="351129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848" b="-53848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6473952" y="3161252"/>
            <a:ext cx="2633472" cy="500920"/>
            <a:chOff x="0" y="0"/>
            <a:chExt cx="3511296" cy="667893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511296" cy="667893"/>
            </a:xfrm>
            <a:custGeom>
              <a:avLst/>
              <a:gdLst/>
              <a:ahLst/>
              <a:cxnLst/>
              <a:rect l="l" t="t" r="r" b="b"/>
              <a:pathLst>
                <a:path w="3511296" h="667893">
                  <a:moveTo>
                    <a:pt x="0" y="0"/>
                  </a:moveTo>
                  <a:lnTo>
                    <a:pt x="3511296" y="0"/>
                  </a:lnTo>
                  <a:lnTo>
                    <a:pt x="3511296" y="667893"/>
                  </a:lnTo>
                  <a:lnTo>
                    <a:pt x="0" y="66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38" b="-52438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9525"/>
              <a:ext cx="3511296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Farida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473952" y="3662172"/>
            <a:ext cx="2633472" cy="411480"/>
            <a:chOff x="0" y="0"/>
            <a:chExt cx="3511296" cy="5486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511296" cy="548640"/>
            </a:xfrm>
            <a:custGeom>
              <a:avLst/>
              <a:gdLst/>
              <a:ahLst/>
              <a:cxnLst/>
              <a:rect l="l" t="t" r="r" b="b"/>
              <a:pathLst>
                <a:path w="3511296" h="548640">
                  <a:moveTo>
                    <a:pt x="0" y="0"/>
                  </a:moveTo>
                  <a:lnTo>
                    <a:pt x="3511296" y="0"/>
                  </a:lnTo>
                  <a:lnTo>
                    <a:pt x="35112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4618" b="-74618"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6473952" y="3633597"/>
            <a:ext cx="2633472" cy="440055"/>
            <a:chOff x="0" y="0"/>
            <a:chExt cx="3511296" cy="58674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511296" cy="586740"/>
            </a:xfrm>
            <a:custGeom>
              <a:avLst/>
              <a:gdLst/>
              <a:ahLst/>
              <a:cxnLst/>
              <a:rect l="l" t="t" r="r" b="b"/>
              <a:pathLst>
                <a:path w="3511296" h="586740">
                  <a:moveTo>
                    <a:pt x="0" y="0"/>
                  </a:moveTo>
                  <a:lnTo>
                    <a:pt x="3511296" y="0"/>
                  </a:lnTo>
                  <a:lnTo>
                    <a:pt x="3511296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606" b="-66606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3511296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EAF6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 &amp; Structure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554980" y="4430268"/>
            <a:ext cx="3319272" cy="301752"/>
            <a:chOff x="0" y="0"/>
            <a:chExt cx="4425696" cy="40233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5554980" y="4423124"/>
            <a:ext cx="3319272" cy="308896"/>
            <a:chOff x="0" y="0"/>
            <a:chExt cx="4425696" cy="41186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2EC4B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HARDWARE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554980" y="4718304"/>
            <a:ext cx="3319272" cy="905256"/>
            <a:chOff x="0" y="0"/>
            <a:chExt cx="4425696" cy="1207008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90" name="Group 90"/>
          <p:cNvGrpSpPr/>
          <p:nvPr/>
        </p:nvGrpSpPr>
        <p:grpSpPr>
          <a:xfrm>
            <a:off x="5554980" y="4696873"/>
            <a:ext cx="3319272" cy="926687"/>
            <a:chOff x="0" y="0"/>
            <a:chExt cx="4425696" cy="1235583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Dual RC522 RFID on SPI; Ultrasonic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554980" y="5760720"/>
            <a:ext cx="3319272" cy="301752"/>
            <a:chOff x="0" y="0"/>
            <a:chExt cx="4425696" cy="402336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95" name="Group 95"/>
          <p:cNvGrpSpPr/>
          <p:nvPr/>
        </p:nvGrpSpPr>
        <p:grpSpPr>
          <a:xfrm>
            <a:off x="5554980" y="5753576"/>
            <a:ext cx="3319272" cy="308896"/>
            <a:chOff x="0" y="0"/>
            <a:chExt cx="4425696" cy="411861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2EC4B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FIRMWARE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554980" y="6048756"/>
            <a:ext cx="3319272" cy="905256"/>
            <a:chOff x="0" y="0"/>
            <a:chExt cx="4425696" cy="1207008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100" name="Group 100"/>
          <p:cNvGrpSpPr/>
          <p:nvPr/>
        </p:nvGrpSpPr>
        <p:grpSpPr>
          <a:xfrm>
            <a:off x="5554980" y="6027325"/>
            <a:ext cx="3319272" cy="926687"/>
            <a:chOff x="0" y="0"/>
            <a:chExt cx="4425696" cy="1235583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card UIDs; verify registered vs rejected cards;Ultrasonic GPIO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5554980" y="7091172"/>
            <a:ext cx="3319272" cy="301752"/>
            <a:chOff x="0" y="0"/>
            <a:chExt cx="4425696" cy="40233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105" name="Group 105"/>
          <p:cNvGrpSpPr/>
          <p:nvPr/>
        </p:nvGrpSpPr>
        <p:grpSpPr>
          <a:xfrm>
            <a:off x="5554980" y="7084028"/>
            <a:ext cx="3319272" cy="308896"/>
            <a:chOff x="0" y="0"/>
            <a:chExt cx="4425696" cy="411861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2EC4B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DEFENSE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5554980" y="7379208"/>
            <a:ext cx="3319272" cy="905256"/>
            <a:chOff x="0" y="0"/>
            <a:chExt cx="4425696" cy="1207008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110" name="Group 110"/>
          <p:cNvGrpSpPr/>
          <p:nvPr/>
        </p:nvGrpSpPr>
        <p:grpSpPr>
          <a:xfrm>
            <a:off x="5554980" y="7357777"/>
            <a:ext cx="3319272" cy="926687"/>
            <a:chOff x="0" y="0"/>
            <a:chExt cx="4425696" cy="1235583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SPI line-sharing (separate SS); 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464040" y="2948940"/>
            <a:ext cx="4005072" cy="5486400"/>
            <a:chOff x="0" y="0"/>
            <a:chExt cx="5340096" cy="731520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5340096" cy="7315200"/>
            </a:xfrm>
            <a:custGeom>
              <a:avLst/>
              <a:gdLst/>
              <a:ahLst/>
              <a:cxnLst/>
              <a:rect l="l" t="t" r="r" b="b"/>
              <a:pathLst>
                <a:path w="5340096" h="7315200">
                  <a:moveTo>
                    <a:pt x="0" y="0"/>
                  </a:moveTo>
                  <a:lnTo>
                    <a:pt x="5340096" y="0"/>
                  </a:lnTo>
                  <a:lnTo>
                    <a:pt x="5340096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5" name="Group 115"/>
          <p:cNvGrpSpPr/>
          <p:nvPr/>
        </p:nvGrpSpPr>
        <p:grpSpPr>
          <a:xfrm>
            <a:off x="9464040" y="2948940"/>
            <a:ext cx="4005072" cy="1261872"/>
            <a:chOff x="0" y="0"/>
            <a:chExt cx="5340096" cy="1682496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5340096" cy="1682496"/>
            </a:xfrm>
            <a:custGeom>
              <a:avLst/>
              <a:gdLst/>
              <a:ahLst/>
              <a:cxnLst/>
              <a:rect l="l" t="t" r="r" b="b"/>
              <a:pathLst>
                <a:path w="5340096" h="1682496">
                  <a:moveTo>
                    <a:pt x="0" y="0"/>
                  </a:moveTo>
                  <a:lnTo>
                    <a:pt x="5340096" y="0"/>
                  </a:lnTo>
                  <a:lnTo>
                    <a:pt x="5340096" y="1682496"/>
                  </a:lnTo>
                  <a:lnTo>
                    <a:pt x="0" y="1682496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117" name="Group 117"/>
          <p:cNvGrpSpPr/>
          <p:nvPr/>
        </p:nvGrpSpPr>
        <p:grpSpPr>
          <a:xfrm>
            <a:off x="9848088" y="3223260"/>
            <a:ext cx="713232" cy="713232"/>
            <a:chOff x="0" y="0"/>
            <a:chExt cx="950976" cy="950976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10033530" y="3408702"/>
            <a:ext cx="342328" cy="342328"/>
            <a:chOff x="0" y="0"/>
            <a:chExt cx="456438" cy="456438"/>
          </a:xfrm>
        </p:grpSpPr>
        <p:sp>
          <p:nvSpPr>
            <p:cNvPr id="120" name="Freeform 120" descr="preencoded.png"/>
            <p:cNvSpPr/>
            <p:nvPr/>
          </p:nvSpPr>
          <p:spPr>
            <a:xfrm>
              <a:off x="0" y="0"/>
              <a:ext cx="456438" cy="456438"/>
            </a:xfrm>
            <a:custGeom>
              <a:avLst/>
              <a:gdLst/>
              <a:ahLst/>
              <a:cxnLst/>
              <a:rect l="l" t="t" r="r" b="b"/>
              <a:pathLst>
                <a:path w="456438" h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1" name="Group 121"/>
          <p:cNvGrpSpPr/>
          <p:nvPr/>
        </p:nvGrpSpPr>
        <p:grpSpPr>
          <a:xfrm>
            <a:off x="10725912" y="3168396"/>
            <a:ext cx="2633472" cy="493776"/>
            <a:chOff x="0" y="0"/>
            <a:chExt cx="3511296" cy="658368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3511296" cy="658368"/>
            </a:xfrm>
            <a:custGeom>
              <a:avLst/>
              <a:gdLst/>
              <a:ahLst/>
              <a:cxnLst/>
              <a:rect l="l" t="t" r="r" b="b"/>
              <a:pathLst>
                <a:path w="3511296" h="658368">
                  <a:moveTo>
                    <a:pt x="0" y="0"/>
                  </a:moveTo>
                  <a:lnTo>
                    <a:pt x="3511296" y="0"/>
                  </a:lnTo>
                  <a:lnTo>
                    <a:pt x="351129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848" b="-53848"/>
              </a:stretch>
            </a:blipFill>
          </p:spPr>
        </p:sp>
      </p:grpSp>
      <p:grpSp>
        <p:nvGrpSpPr>
          <p:cNvPr id="123" name="Group 123"/>
          <p:cNvGrpSpPr/>
          <p:nvPr/>
        </p:nvGrpSpPr>
        <p:grpSpPr>
          <a:xfrm>
            <a:off x="10725912" y="3161252"/>
            <a:ext cx="2633472" cy="500920"/>
            <a:chOff x="0" y="0"/>
            <a:chExt cx="3511296" cy="667893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3511296" cy="667893"/>
            </a:xfrm>
            <a:custGeom>
              <a:avLst/>
              <a:gdLst/>
              <a:ahLst/>
              <a:cxnLst/>
              <a:rect l="l" t="t" r="r" b="b"/>
              <a:pathLst>
                <a:path w="3511296" h="667893">
                  <a:moveTo>
                    <a:pt x="0" y="0"/>
                  </a:moveTo>
                  <a:lnTo>
                    <a:pt x="3511296" y="0"/>
                  </a:lnTo>
                  <a:lnTo>
                    <a:pt x="3511296" y="667893"/>
                  </a:lnTo>
                  <a:lnTo>
                    <a:pt x="0" y="66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38" b="-52438"/>
              </a:stretch>
            </a:blipFill>
          </p:spPr>
        </p:sp>
        <p:sp>
          <p:nvSpPr>
            <p:cNvPr id="125" name="TextBox 125"/>
            <p:cNvSpPr txBox="1"/>
            <p:nvPr/>
          </p:nvSpPr>
          <p:spPr>
            <a:xfrm>
              <a:off x="0" y="-9525"/>
              <a:ext cx="3511296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Norhan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0725912" y="3662172"/>
            <a:ext cx="2633472" cy="411480"/>
            <a:chOff x="0" y="0"/>
            <a:chExt cx="3511296" cy="548640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3511296" cy="548640"/>
            </a:xfrm>
            <a:custGeom>
              <a:avLst/>
              <a:gdLst/>
              <a:ahLst/>
              <a:cxnLst/>
              <a:rect l="l" t="t" r="r" b="b"/>
              <a:pathLst>
                <a:path w="3511296" h="548640">
                  <a:moveTo>
                    <a:pt x="0" y="0"/>
                  </a:moveTo>
                  <a:lnTo>
                    <a:pt x="3511296" y="0"/>
                  </a:lnTo>
                  <a:lnTo>
                    <a:pt x="35112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4618" b="-74618"/>
              </a:stretch>
            </a:blipFill>
          </p:spPr>
        </p:sp>
      </p:grpSp>
      <p:grpSp>
        <p:nvGrpSpPr>
          <p:cNvPr id="128" name="Group 128"/>
          <p:cNvGrpSpPr/>
          <p:nvPr/>
        </p:nvGrpSpPr>
        <p:grpSpPr>
          <a:xfrm>
            <a:off x="10725912" y="3633597"/>
            <a:ext cx="2633472" cy="440055"/>
            <a:chOff x="0" y="0"/>
            <a:chExt cx="3511296" cy="58674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3511296" cy="586740"/>
            </a:xfrm>
            <a:custGeom>
              <a:avLst/>
              <a:gdLst/>
              <a:ahLst/>
              <a:cxnLst/>
              <a:rect l="l" t="t" r="r" b="b"/>
              <a:pathLst>
                <a:path w="3511296" h="586740">
                  <a:moveTo>
                    <a:pt x="0" y="0"/>
                  </a:moveTo>
                  <a:lnTo>
                    <a:pt x="3511296" y="0"/>
                  </a:lnTo>
                  <a:lnTo>
                    <a:pt x="3511296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606" b="-66606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38100"/>
              <a:ext cx="3511296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EAF6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 &amp; Integration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806940" y="4430268"/>
            <a:ext cx="3319272" cy="301752"/>
            <a:chOff x="0" y="0"/>
            <a:chExt cx="4425696" cy="402336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133" name="Group 133"/>
          <p:cNvGrpSpPr/>
          <p:nvPr/>
        </p:nvGrpSpPr>
        <p:grpSpPr>
          <a:xfrm>
            <a:off x="9806940" y="4423124"/>
            <a:ext cx="3319272" cy="308896"/>
            <a:chOff x="0" y="0"/>
            <a:chExt cx="4425696" cy="411861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HARDWARE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9806940" y="4718304"/>
            <a:ext cx="3319272" cy="905256"/>
            <a:chOff x="0" y="0"/>
            <a:chExt cx="4425696" cy="1207008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138" name="Group 138"/>
          <p:cNvGrpSpPr/>
          <p:nvPr/>
        </p:nvGrpSpPr>
        <p:grpSpPr>
          <a:xfrm>
            <a:off x="9806940" y="4696873"/>
            <a:ext cx="3319272" cy="926687"/>
            <a:chOff x="0" y="0"/>
            <a:chExt cx="4425696" cy="1235583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140" name="TextBox 140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I2C LCD (PB6/PB7); ESP-01 ↔ STM32; ESP-01 network connection checks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806940" y="5760720"/>
            <a:ext cx="3319272" cy="301752"/>
            <a:chOff x="0" y="0"/>
            <a:chExt cx="4425696" cy="402336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143" name="Group 143"/>
          <p:cNvGrpSpPr/>
          <p:nvPr/>
        </p:nvGrpSpPr>
        <p:grpSpPr>
          <a:xfrm>
            <a:off x="9806940" y="5753576"/>
            <a:ext cx="3319272" cy="308896"/>
            <a:chOff x="0" y="0"/>
            <a:chExt cx="4425696" cy="411861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FIRMWARE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9806940" y="6048756"/>
            <a:ext cx="3319272" cy="905256"/>
            <a:chOff x="0" y="0"/>
            <a:chExt cx="4425696" cy="1207008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148" name="Group 148"/>
          <p:cNvGrpSpPr/>
          <p:nvPr/>
        </p:nvGrpSpPr>
        <p:grpSpPr>
          <a:xfrm>
            <a:off x="9806940" y="6027325"/>
            <a:ext cx="3319272" cy="926687"/>
            <a:chOff x="0" y="0"/>
            <a:chExt cx="4425696" cy="1235583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150" name="TextBox 150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dashboard (HTML/CSS/JS); live slot colour updates;I2C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9806940" y="7091172"/>
            <a:ext cx="3319272" cy="301752"/>
            <a:chOff x="0" y="0"/>
            <a:chExt cx="4425696" cy="402336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153" name="Group 153"/>
          <p:cNvGrpSpPr/>
          <p:nvPr/>
        </p:nvGrpSpPr>
        <p:grpSpPr>
          <a:xfrm>
            <a:off x="9806940" y="7084028"/>
            <a:ext cx="3319272" cy="308896"/>
            <a:chOff x="0" y="0"/>
            <a:chExt cx="4425696" cy="411861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155" name="TextBox 155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DEFENSE</a:t>
              </a:r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9806940" y="7379208"/>
            <a:ext cx="3319272" cy="905256"/>
            <a:chOff x="0" y="0"/>
            <a:chExt cx="4425696" cy="1207008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158" name="Group 158"/>
          <p:cNvGrpSpPr/>
          <p:nvPr/>
        </p:nvGrpSpPr>
        <p:grpSpPr>
          <a:xfrm>
            <a:off x="9806940" y="7357777"/>
            <a:ext cx="3319272" cy="926687"/>
            <a:chOff x="0" y="0"/>
            <a:chExt cx="4425696" cy="1235583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160" name="TextBox 160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design; telemetry → database mapping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13716000" y="2948940"/>
            <a:ext cx="4005072" cy="5486400"/>
            <a:chOff x="0" y="0"/>
            <a:chExt cx="5340096" cy="7315200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5340096" cy="7315200"/>
            </a:xfrm>
            <a:custGeom>
              <a:avLst/>
              <a:gdLst/>
              <a:ahLst/>
              <a:cxnLst/>
              <a:rect l="l" t="t" r="r" b="b"/>
              <a:pathLst>
                <a:path w="5340096" h="7315200">
                  <a:moveTo>
                    <a:pt x="0" y="0"/>
                  </a:moveTo>
                  <a:lnTo>
                    <a:pt x="5340096" y="0"/>
                  </a:lnTo>
                  <a:lnTo>
                    <a:pt x="5340096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3" name="Group 163"/>
          <p:cNvGrpSpPr/>
          <p:nvPr/>
        </p:nvGrpSpPr>
        <p:grpSpPr>
          <a:xfrm>
            <a:off x="13716000" y="2948940"/>
            <a:ext cx="4005072" cy="1261872"/>
            <a:chOff x="0" y="0"/>
            <a:chExt cx="5340096" cy="1682496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5340096" cy="1682496"/>
            </a:xfrm>
            <a:custGeom>
              <a:avLst/>
              <a:gdLst/>
              <a:ahLst/>
              <a:cxnLst/>
              <a:rect l="l" t="t" r="r" b="b"/>
              <a:pathLst>
                <a:path w="5340096" h="1682496">
                  <a:moveTo>
                    <a:pt x="0" y="0"/>
                  </a:moveTo>
                  <a:lnTo>
                    <a:pt x="5340096" y="0"/>
                  </a:lnTo>
                  <a:lnTo>
                    <a:pt x="5340096" y="1682496"/>
                  </a:lnTo>
                  <a:lnTo>
                    <a:pt x="0" y="1682496"/>
                  </a:lnTo>
                  <a:close/>
                </a:path>
              </a:pathLst>
            </a:custGeom>
            <a:solidFill>
              <a:srgbClr val="21C063"/>
            </a:solidFill>
          </p:spPr>
        </p:sp>
      </p:grpSp>
      <p:grpSp>
        <p:nvGrpSpPr>
          <p:cNvPr id="165" name="Group 165"/>
          <p:cNvGrpSpPr/>
          <p:nvPr/>
        </p:nvGrpSpPr>
        <p:grpSpPr>
          <a:xfrm>
            <a:off x="14100048" y="3223260"/>
            <a:ext cx="713232" cy="713232"/>
            <a:chOff x="0" y="0"/>
            <a:chExt cx="950976" cy="950976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167" name="Group 167"/>
          <p:cNvGrpSpPr/>
          <p:nvPr/>
        </p:nvGrpSpPr>
        <p:grpSpPr>
          <a:xfrm>
            <a:off x="14285490" y="3408702"/>
            <a:ext cx="342328" cy="342328"/>
            <a:chOff x="0" y="0"/>
            <a:chExt cx="456438" cy="456438"/>
          </a:xfrm>
        </p:grpSpPr>
        <p:sp>
          <p:nvSpPr>
            <p:cNvPr id="168" name="Freeform 168" descr="preencoded.png"/>
            <p:cNvSpPr/>
            <p:nvPr/>
          </p:nvSpPr>
          <p:spPr>
            <a:xfrm>
              <a:off x="0" y="0"/>
              <a:ext cx="456438" cy="456438"/>
            </a:xfrm>
            <a:custGeom>
              <a:avLst/>
              <a:gdLst/>
              <a:ahLst/>
              <a:cxnLst/>
              <a:rect l="l" t="t" r="r" b="b"/>
              <a:pathLst>
                <a:path w="456438" h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69" name="Group 169"/>
          <p:cNvGrpSpPr/>
          <p:nvPr/>
        </p:nvGrpSpPr>
        <p:grpSpPr>
          <a:xfrm>
            <a:off x="14977872" y="3168396"/>
            <a:ext cx="2633472" cy="493776"/>
            <a:chOff x="0" y="0"/>
            <a:chExt cx="3511296" cy="658368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3511296" cy="658368"/>
            </a:xfrm>
            <a:custGeom>
              <a:avLst/>
              <a:gdLst/>
              <a:ahLst/>
              <a:cxnLst/>
              <a:rect l="l" t="t" r="r" b="b"/>
              <a:pathLst>
                <a:path w="3511296" h="658368">
                  <a:moveTo>
                    <a:pt x="0" y="0"/>
                  </a:moveTo>
                  <a:lnTo>
                    <a:pt x="3511296" y="0"/>
                  </a:lnTo>
                  <a:lnTo>
                    <a:pt x="351129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848" b="-53848"/>
              </a:stretch>
            </a:blipFill>
          </p:spPr>
        </p:sp>
      </p:grpSp>
      <p:grpSp>
        <p:nvGrpSpPr>
          <p:cNvPr id="171" name="Group 171"/>
          <p:cNvGrpSpPr/>
          <p:nvPr/>
        </p:nvGrpSpPr>
        <p:grpSpPr>
          <a:xfrm>
            <a:off x="14977872" y="3161252"/>
            <a:ext cx="2633472" cy="500920"/>
            <a:chOff x="0" y="0"/>
            <a:chExt cx="3511296" cy="667893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3511296" cy="667893"/>
            </a:xfrm>
            <a:custGeom>
              <a:avLst/>
              <a:gdLst/>
              <a:ahLst/>
              <a:cxnLst/>
              <a:rect l="l" t="t" r="r" b="b"/>
              <a:pathLst>
                <a:path w="3511296" h="667893">
                  <a:moveTo>
                    <a:pt x="0" y="0"/>
                  </a:moveTo>
                  <a:lnTo>
                    <a:pt x="3511296" y="0"/>
                  </a:lnTo>
                  <a:lnTo>
                    <a:pt x="3511296" y="667893"/>
                  </a:lnTo>
                  <a:lnTo>
                    <a:pt x="0" y="66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38" b="-52438"/>
              </a:stretch>
            </a:blipFill>
          </p:spPr>
        </p:sp>
        <p:sp>
          <p:nvSpPr>
            <p:cNvPr id="173" name="TextBox 173"/>
            <p:cNvSpPr txBox="1"/>
            <p:nvPr/>
          </p:nvSpPr>
          <p:spPr>
            <a:xfrm>
              <a:off x="0" y="-9525"/>
              <a:ext cx="3511296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Zeina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14977872" y="3662172"/>
            <a:ext cx="2633472" cy="411480"/>
            <a:chOff x="0" y="0"/>
            <a:chExt cx="3511296" cy="548640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3511296" cy="548640"/>
            </a:xfrm>
            <a:custGeom>
              <a:avLst/>
              <a:gdLst/>
              <a:ahLst/>
              <a:cxnLst/>
              <a:rect l="l" t="t" r="r" b="b"/>
              <a:pathLst>
                <a:path w="3511296" h="548640">
                  <a:moveTo>
                    <a:pt x="0" y="0"/>
                  </a:moveTo>
                  <a:lnTo>
                    <a:pt x="3511296" y="0"/>
                  </a:lnTo>
                  <a:lnTo>
                    <a:pt x="35112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4618" b="-74618"/>
              </a:stretch>
            </a:blipFill>
          </p:spPr>
        </p:sp>
      </p:grpSp>
      <p:grpSp>
        <p:nvGrpSpPr>
          <p:cNvPr id="176" name="Group 176"/>
          <p:cNvGrpSpPr/>
          <p:nvPr/>
        </p:nvGrpSpPr>
        <p:grpSpPr>
          <a:xfrm>
            <a:off x="14977872" y="3633597"/>
            <a:ext cx="2633472" cy="440055"/>
            <a:chOff x="0" y="0"/>
            <a:chExt cx="3511296" cy="586740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3511296" cy="586740"/>
            </a:xfrm>
            <a:custGeom>
              <a:avLst/>
              <a:gdLst/>
              <a:ahLst/>
              <a:cxnLst/>
              <a:rect l="l" t="t" r="r" b="b"/>
              <a:pathLst>
                <a:path w="3511296" h="586740">
                  <a:moveTo>
                    <a:pt x="0" y="0"/>
                  </a:moveTo>
                  <a:lnTo>
                    <a:pt x="3511296" y="0"/>
                  </a:lnTo>
                  <a:lnTo>
                    <a:pt x="3511296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606" b="-66606"/>
              </a:stretch>
            </a:blipFill>
          </p:spPr>
        </p:sp>
        <p:sp>
          <p:nvSpPr>
            <p:cNvPr id="178" name="TextBox 178"/>
            <p:cNvSpPr txBox="1"/>
            <p:nvPr/>
          </p:nvSpPr>
          <p:spPr>
            <a:xfrm>
              <a:off x="0" y="-38100"/>
              <a:ext cx="3511296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EAF6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Gates &amp; Safety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14058900" y="4430268"/>
            <a:ext cx="3319272" cy="301752"/>
            <a:chOff x="0" y="0"/>
            <a:chExt cx="4425696" cy="402336"/>
          </a:xfrm>
        </p:grpSpPr>
        <p:sp>
          <p:nvSpPr>
            <p:cNvPr id="180" name="Freeform 180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181" name="Group 181"/>
          <p:cNvGrpSpPr/>
          <p:nvPr/>
        </p:nvGrpSpPr>
        <p:grpSpPr>
          <a:xfrm>
            <a:off x="14058900" y="4423124"/>
            <a:ext cx="3319272" cy="308896"/>
            <a:chOff x="0" y="0"/>
            <a:chExt cx="4425696" cy="411861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183" name="TextBox 183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21C06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HARDWARE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14058900" y="4718304"/>
            <a:ext cx="3319272" cy="905256"/>
            <a:chOff x="0" y="0"/>
            <a:chExt cx="4425696" cy="1207008"/>
          </a:xfrm>
        </p:grpSpPr>
        <p:sp>
          <p:nvSpPr>
            <p:cNvPr id="185" name="Freeform 185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186" name="Group 186"/>
          <p:cNvGrpSpPr/>
          <p:nvPr/>
        </p:nvGrpSpPr>
        <p:grpSpPr>
          <a:xfrm>
            <a:off x="14058900" y="4696873"/>
            <a:ext cx="3319272" cy="926687"/>
            <a:chOff x="0" y="0"/>
            <a:chExt cx="4425696" cy="1235583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188" name="TextBox 188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Servo gates; active buzzer &amp; flame sensor</a:t>
              </a:r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14058900" y="5760720"/>
            <a:ext cx="3319272" cy="301752"/>
            <a:chOff x="0" y="0"/>
            <a:chExt cx="4425696" cy="402336"/>
          </a:xfrm>
        </p:grpSpPr>
        <p:sp>
          <p:nvSpPr>
            <p:cNvPr id="190" name="Freeform 190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191" name="Group 191"/>
          <p:cNvGrpSpPr/>
          <p:nvPr/>
        </p:nvGrpSpPr>
        <p:grpSpPr>
          <a:xfrm>
            <a:off x="14058900" y="5753576"/>
            <a:ext cx="3319272" cy="308896"/>
            <a:chOff x="0" y="0"/>
            <a:chExt cx="4425696" cy="411861"/>
          </a:xfrm>
        </p:grpSpPr>
        <p:sp>
          <p:nvSpPr>
            <p:cNvPr id="192" name="Freeform 192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193" name="TextBox 193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21C06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FIRMWARE</a:t>
              </a:r>
            </a:p>
          </p:txBody>
        </p:sp>
      </p:grpSp>
      <p:grpSp>
        <p:nvGrpSpPr>
          <p:cNvPr id="194" name="Group 194"/>
          <p:cNvGrpSpPr/>
          <p:nvPr/>
        </p:nvGrpSpPr>
        <p:grpSpPr>
          <a:xfrm>
            <a:off x="14058900" y="6048756"/>
            <a:ext cx="3319272" cy="905256"/>
            <a:chOff x="0" y="0"/>
            <a:chExt cx="4425696" cy="1207008"/>
          </a:xfrm>
        </p:grpSpPr>
        <p:sp>
          <p:nvSpPr>
            <p:cNvPr id="195" name="Freeform 195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196" name="Group 196"/>
          <p:cNvGrpSpPr/>
          <p:nvPr/>
        </p:nvGrpSpPr>
        <p:grpSpPr>
          <a:xfrm>
            <a:off x="14058900" y="6027325"/>
            <a:ext cx="3319272" cy="926687"/>
            <a:chOff x="0" y="0"/>
            <a:chExt cx="4425696" cy="1235583"/>
          </a:xfrm>
        </p:grpSpPr>
        <p:sp>
          <p:nvSpPr>
            <p:cNvPr id="197" name="Freeform 197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198" name="TextBox 198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Servo PWM; flame interrupt → open→ Activate buzzer</a:t>
              </a:r>
            </a:p>
          </p:txBody>
        </p:sp>
      </p:grpSp>
      <p:grpSp>
        <p:nvGrpSpPr>
          <p:cNvPr id="199" name="Group 199"/>
          <p:cNvGrpSpPr/>
          <p:nvPr/>
        </p:nvGrpSpPr>
        <p:grpSpPr>
          <a:xfrm>
            <a:off x="14058900" y="7091172"/>
            <a:ext cx="3319272" cy="301752"/>
            <a:chOff x="0" y="0"/>
            <a:chExt cx="4425696" cy="402336"/>
          </a:xfrm>
        </p:grpSpPr>
        <p:sp>
          <p:nvSpPr>
            <p:cNvPr id="200" name="Freeform 200"/>
            <p:cNvSpPr/>
            <p:nvPr/>
          </p:nvSpPr>
          <p:spPr>
            <a:xfrm>
              <a:off x="0" y="0"/>
              <a:ext cx="4425696" cy="402336"/>
            </a:xfrm>
            <a:custGeom>
              <a:avLst/>
              <a:gdLst/>
              <a:ahLst/>
              <a:cxnLst/>
              <a:rect l="l" t="t" r="r" b="b"/>
              <a:pathLst>
                <a:path w="4425696" h="402336">
                  <a:moveTo>
                    <a:pt x="0" y="0"/>
                  </a:moveTo>
                  <a:lnTo>
                    <a:pt x="4425696" y="0"/>
                  </a:lnTo>
                  <a:lnTo>
                    <a:pt x="442569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185" b="-164185"/>
              </a:stretch>
            </a:blipFill>
          </p:spPr>
        </p:sp>
      </p:grpSp>
      <p:grpSp>
        <p:nvGrpSpPr>
          <p:cNvPr id="201" name="Group 201"/>
          <p:cNvGrpSpPr/>
          <p:nvPr/>
        </p:nvGrpSpPr>
        <p:grpSpPr>
          <a:xfrm>
            <a:off x="14058900" y="7084028"/>
            <a:ext cx="3319272" cy="308896"/>
            <a:chOff x="0" y="0"/>
            <a:chExt cx="4425696" cy="411861"/>
          </a:xfrm>
        </p:grpSpPr>
        <p:sp>
          <p:nvSpPr>
            <p:cNvPr id="202" name="Freeform 202"/>
            <p:cNvSpPr/>
            <p:nvPr/>
          </p:nvSpPr>
          <p:spPr>
            <a:xfrm>
              <a:off x="0" y="0"/>
              <a:ext cx="4425696" cy="411861"/>
            </a:xfrm>
            <a:custGeom>
              <a:avLst/>
              <a:gdLst/>
              <a:ahLst/>
              <a:cxnLst/>
              <a:rect l="l" t="t" r="r" b="b"/>
              <a:pathLst>
                <a:path w="4425696" h="411861">
                  <a:moveTo>
                    <a:pt x="0" y="0"/>
                  </a:moveTo>
                  <a:lnTo>
                    <a:pt x="4425696" y="0"/>
                  </a:lnTo>
                  <a:lnTo>
                    <a:pt x="4425696" y="411861"/>
                  </a:lnTo>
                  <a:lnTo>
                    <a:pt x="0" y="4118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378" b="-159378"/>
              </a:stretch>
            </a:blipFill>
          </p:spPr>
        </p:sp>
        <p:sp>
          <p:nvSpPr>
            <p:cNvPr id="203" name="TextBox 203"/>
            <p:cNvSpPr txBox="1"/>
            <p:nvPr/>
          </p:nvSpPr>
          <p:spPr>
            <a:xfrm>
              <a:off x="0" y="-9525"/>
              <a:ext cx="442569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 spc="225">
                  <a:solidFill>
                    <a:srgbClr val="21C06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DEFENSE</a:t>
              </a:r>
            </a:p>
          </p:txBody>
        </p:sp>
      </p:grpSp>
      <p:grpSp>
        <p:nvGrpSpPr>
          <p:cNvPr id="204" name="Group 204"/>
          <p:cNvGrpSpPr/>
          <p:nvPr/>
        </p:nvGrpSpPr>
        <p:grpSpPr>
          <a:xfrm>
            <a:off x="14058900" y="7379208"/>
            <a:ext cx="3319272" cy="905256"/>
            <a:chOff x="0" y="0"/>
            <a:chExt cx="4425696" cy="1207008"/>
          </a:xfrm>
        </p:grpSpPr>
        <p:sp>
          <p:nvSpPr>
            <p:cNvPr id="205" name="Freeform 205"/>
            <p:cNvSpPr/>
            <p:nvPr/>
          </p:nvSpPr>
          <p:spPr>
            <a:xfrm>
              <a:off x="0" y="0"/>
              <a:ext cx="4425696" cy="1207008"/>
            </a:xfrm>
            <a:custGeom>
              <a:avLst/>
              <a:gdLst/>
              <a:ahLst/>
              <a:cxnLst/>
              <a:rect l="l" t="t" r="r" b="b"/>
              <a:pathLst>
                <a:path w="4425696" h="1207008">
                  <a:moveTo>
                    <a:pt x="0" y="0"/>
                  </a:moveTo>
                  <a:lnTo>
                    <a:pt x="4425696" y="0"/>
                  </a:lnTo>
                  <a:lnTo>
                    <a:pt x="442569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95" b="-21395"/>
              </a:stretch>
            </a:blipFill>
          </p:spPr>
        </p:sp>
      </p:grpSp>
      <p:grpSp>
        <p:nvGrpSpPr>
          <p:cNvPr id="206" name="Group 206"/>
          <p:cNvGrpSpPr/>
          <p:nvPr/>
        </p:nvGrpSpPr>
        <p:grpSpPr>
          <a:xfrm>
            <a:off x="14058900" y="7357777"/>
            <a:ext cx="3319272" cy="926687"/>
            <a:chOff x="0" y="0"/>
            <a:chExt cx="4425696" cy="1235583"/>
          </a:xfrm>
        </p:grpSpPr>
        <p:sp>
          <p:nvSpPr>
            <p:cNvPr id="207" name="Freeform 207"/>
            <p:cNvSpPr/>
            <p:nvPr/>
          </p:nvSpPr>
          <p:spPr>
            <a:xfrm>
              <a:off x="0" y="0"/>
              <a:ext cx="4425696" cy="1235583"/>
            </a:xfrm>
            <a:custGeom>
              <a:avLst/>
              <a:gdLst/>
              <a:ahLst/>
              <a:cxnLst/>
              <a:rect l="l" t="t" r="r" b="b"/>
              <a:pathLst>
                <a:path w="4425696" h="1235583">
                  <a:moveTo>
                    <a:pt x="0" y="0"/>
                  </a:moveTo>
                  <a:lnTo>
                    <a:pt x="4425696" y="0"/>
                  </a:lnTo>
                  <a:lnTo>
                    <a:pt x="4425696" y="1235583"/>
                  </a:lnTo>
                  <a:lnTo>
                    <a:pt x="0" y="123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92" b="-19792"/>
              </a:stretch>
            </a:blipFill>
          </p:spPr>
        </p:sp>
        <p:sp>
          <p:nvSpPr>
            <p:cNvPr id="208" name="TextBox 208"/>
            <p:cNvSpPr txBox="1"/>
            <p:nvPr/>
          </p:nvSpPr>
          <p:spPr>
            <a:xfrm>
              <a:off x="0" y="-28575"/>
              <a:ext cx="4425696" cy="12641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5A718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Gate actuation; zero-latency emergency handling</a:t>
              </a:r>
            </a:p>
          </p:txBody>
        </p:sp>
      </p:grpSp>
      <p:grpSp>
        <p:nvGrpSpPr>
          <p:cNvPr id="209" name="Group 209"/>
          <p:cNvGrpSpPr/>
          <p:nvPr/>
        </p:nvGrpSpPr>
        <p:grpSpPr>
          <a:xfrm>
            <a:off x="960120" y="8709660"/>
            <a:ext cx="16376904" cy="850392"/>
            <a:chOff x="0" y="0"/>
            <a:chExt cx="21835872" cy="1133856"/>
          </a:xfrm>
        </p:grpSpPr>
        <p:sp>
          <p:nvSpPr>
            <p:cNvPr id="210" name="Freeform 210"/>
            <p:cNvSpPr/>
            <p:nvPr/>
          </p:nvSpPr>
          <p:spPr>
            <a:xfrm>
              <a:off x="0" y="0"/>
              <a:ext cx="21835872" cy="1133856"/>
            </a:xfrm>
            <a:custGeom>
              <a:avLst/>
              <a:gdLst/>
              <a:ahLst/>
              <a:cxnLst/>
              <a:rect l="l" t="t" r="r" b="b"/>
              <a:pathLst>
                <a:path w="21835872" h="1133856">
                  <a:moveTo>
                    <a:pt x="0" y="0"/>
                  </a:moveTo>
                  <a:lnTo>
                    <a:pt x="21835872" y="0"/>
                  </a:lnTo>
                  <a:lnTo>
                    <a:pt x="21835872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211" name="Group 211"/>
          <p:cNvGrpSpPr/>
          <p:nvPr/>
        </p:nvGrpSpPr>
        <p:grpSpPr>
          <a:xfrm>
            <a:off x="1261872" y="8915400"/>
            <a:ext cx="438912" cy="438912"/>
            <a:chOff x="0" y="0"/>
            <a:chExt cx="585216" cy="585216"/>
          </a:xfrm>
        </p:grpSpPr>
        <p:sp>
          <p:nvSpPr>
            <p:cNvPr id="212" name="Freeform 212" descr="preencoded.png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13" name="Group 213"/>
          <p:cNvGrpSpPr/>
          <p:nvPr/>
        </p:nvGrpSpPr>
        <p:grpSpPr>
          <a:xfrm>
            <a:off x="1920240" y="8709660"/>
            <a:ext cx="15087600" cy="850392"/>
            <a:chOff x="0" y="0"/>
            <a:chExt cx="20116800" cy="1133856"/>
          </a:xfrm>
        </p:grpSpPr>
        <p:sp>
          <p:nvSpPr>
            <p:cNvPr id="214" name="Freeform 214"/>
            <p:cNvSpPr/>
            <p:nvPr/>
          </p:nvSpPr>
          <p:spPr>
            <a:xfrm>
              <a:off x="0" y="0"/>
              <a:ext cx="20116800" cy="1133856"/>
            </a:xfrm>
            <a:custGeom>
              <a:avLst/>
              <a:gdLst/>
              <a:ahLst/>
              <a:cxnLst/>
              <a:rect l="l" t="t" r="r" b="b"/>
              <a:pathLst>
                <a:path w="20116800" h="1133856">
                  <a:moveTo>
                    <a:pt x="0" y="0"/>
                  </a:moveTo>
                  <a:lnTo>
                    <a:pt x="20116800" y="0"/>
                  </a:lnTo>
                  <a:lnTo>
                    <a:pt x="20116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5461" b="-295462"/>
              </a:stretch>
            </a:blipFill>
          </p:spPr>
        </p:sp>
      </p:grpSp>
      <p:grpSp>
        <p:nvGrpSpPr>
          <p:cNvPr id="215" name="Group 215"/>
          <p:cNvGrpSpPr/>
          <p:nvPr/>
        </p:nvGrpSpPr>
        <p:grpSpPr>
          <a:xfrm>
            <a:off x="1920240" y="8673941"/>
            <a:ext cx="15087600" cy="886111"/>
            <a:chOff x="0" y="0"/>
            <a:chExt cx="20116800" cy="1181481"/>
          </a:xfrm>
        </p:grpSpPr>
        <p:sp>
          <p:nvSpPr>
            <p:cNvPr id="216" name="Freeform 216"/>
            <p:cNvSpPr/>
            <p:nvPr/>
          </p:nvSpPr>
          <p:spPr>
            <a:xfrm>
              <a:off x="0" y="0"/>
              <a:ext cx="20116800" cy="1181481"/>
            </a:xfrm>
            <a:custGeom>
              <a:avLst/>
              <a:gdLst/>
              <a:ahLst/>
              <a:cxnLst/>
              <a:rect l="l" t="t" r="r" b="b"/>
              <a:pathLst>
                <a:path w="20116800" h="1181481">
                  <a:moveTo>
                    <a:pt x="0" y="0"/>
                  </a:moveTo>
                  <a:lnTo>
                    <a:pt x="20116800" y="0"/>
                  </a:lnTo>
                  <a:lnTo>
                    <a:pt x="20116800" y="1181481"/>
                  </a:lnTo>
                  <a:lnTo>
                    <a:pt x="0" y="1181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767" b="-281767"/>
              </a:stretch>
            </a:blipFill>
          </p:spPr>
        </p:sp>
        <p:sp>
          <p:nvSpPr>
            <p:cNvPr id="217" name="TextBox 217"/>
            <p:cNvSpPr txBox="1"/>
            <p:nvPr/>
          </p:nvSpPr>
          <p:spPr>
            <a:xfrm>
              <a:off x="0" y="-47625"/>
              <a:ext cx="20116800" cy="12291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Shared by all four:  </a:t>
              </a:r>
              <a:r>
                <a:rPr lang="en-US" sz="1950">
                  <a:solidFill>
                    <a:srgbClr val="D7E3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FreeRTOS parallel-task architecture  ·  GitHub repository &amp; README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669" y="-16669"/>
            <a:ext cx="18275618" cy="10320338"/>
            <a:chOff x="0" y="0"/>
            <a:chExt cx="24367490" cy="137604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67489" cy="13760450"/>
            </a:xfrm>
            <a:custGeom>
              <a:avLst/>
              <a:gdLst/>
              <a:ahLst/>
              <a:cxnLst/>
              <a:rect l="l" t="t" r="r" b="b"/>
              <a:pathLst>
                <a:path w="24367489" h="13760450">
                  <a:moveTo>
                    <a:pt x="0" y="0"/>
                  </a:moveTo>
                  <a:lnTo>
                    <a:pt x="24367489" y="0"/>
                  </a:lnTo>
                  <a:lnTo>
                    <a:pt x="24367489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F0F2F5"/>
            </a:solidFill>
            <a:ln w="19050" cap="sq">
              <a:solidFill>
                <a:srgbClr val="F0F2F5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85800" y="301752"/>
            <a:ext cx="6858000" cy="356616"/>
            <a:chOff x="0" y="0"/>
            <a:chExt cx="9144000" cy="4754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0" cy="475488"/>
            </a:xfrm>
            <a:custGeom>
              <a:avLst/>
              <a:gdLst/>
              <a:ahLst/>
              <a:cxnLst/>
              <a:rect l="l" t="t" r="r" b="b"/>
              <a:pathLst>
                <a:path w="9144000" h="475488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4452" b="-32444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273177"/>
            <a:ext cx="6858000" cy="385191"/>
            <a:chOff x="0" y="0"/>
            <a:chExt cx="9144000" cy="5135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513588"/>
            </a:xfrm>
            <a:custGeom>
              <a:avLst/>
              <a:gdLst/>
              <a:ahLst/>
              <a:cxnLst/>
              <a:rect l="l" t="t" r="r" b="b"/>
              <a:pathLst>
                <a:path w="9144000" h="513588">
                  <a:moveTo>
                    <a:pt x="0" y="0"/>
                  </a:moveTo>
                  <a:lnTo>
                    <a:pt x="9144000" y="0"/>
                  </a:lnTo>
                  <a:lnTo>
                    <a:pt x="9144000" y="513588"/>
                  </a:lnTo>
                  <a:lnTo>
                    <a:pt x="0" y="5135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6914" b="-29691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144000" cy="551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•  HOW WE BUILT IT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630936"/>
            <a:ext cx="16459200" cy="795528"/>
            <a:chOff x="0" y="0"/>
            <a:chExt cx="21945600" cy="1060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060704"/>
            </a:xfrm>
            <a:custGeom>
              <a:avLst/>
              <a:gdLst/>
              <a:ahLst/>
              <a:cxnLst/>
              <a:rect l="l" t="t" r="r" b="b"/>
              <a:pathLst>
                <a:path w="21945600" h="1060704">
                  <a:moveTo>
                    <a:pt x="0" y="0"/>
                  </a:moveTo>
                  <a:lnTo>
                    <a:pt x="21945600" y="0"/>
                  </a:lnTo>
                  <a:lnTo>
                    <a:pt x="219456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2858" b="-352859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5800" y="566642"/>
            <a:ext cx="16459200" cy="859822"/>
            <a:chOff x="0" y="0"/>
            <a:chExt cx="21945600" cy="11464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146429"/>
            </a:xfrm>
            <a:custGeom>
              <a:avLst/>
              <a:gdLst/>
              <a:ahLst/>
              <a:cxnLst/>
              <a:rect l="l" t="t" r="r" b="b"/>
              <a:pathLst>
                <a:path w="21945600" h="1146429">
                  <a:moveTo>
                    <a:pt x="0" y="0"/>
                  </a:moveTo>
                  <a:lnTo>
                    <a:pt x="21945600" y="0"/>
                  </a:lnTo>
                  <a:lnTo>
                    <a:pt x="21945600" y="1146429"/>
                  </a:lnTo>
                  <a:lnTo>
                    <a:pt x="0" y="11464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993" b="-32299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21945600" cy="12321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 Steps &amp; Outcomes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4539" y="1601819"/>
            <a:ext cx="5451158" cy="115634"/>
            <a:chOff x="0" y="0"/>
            <a:chExt cx="7268210" cy="1541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8210" cy="154178"/>
            </a:xfrm>
            <a:custGeom>
              <a:avLst/>
              <a:gdLst/>
              <a:ahLst/>
              <a:cxnLst/>
              <a:rect l="l" t="t" r="r" b="b"/>
              <a:pathLst>
                <a:path w="7268210" h="154178">
                  <a:moveTo>
                    <a:pt x="0" y="0"/>
                  </a:moveTo>
                  <a:lnTo>
                    <a:pt x="7268210" y="0"/>
                  </a:lnTo>
                  <a:lnTo>
                    <a:pt x="7268210" y="154178"/>
                  </a:lnTo>
                  <a:lnTo>
                    <a:pt x="0" y="154178"/>
                  </a:ln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>
            <a:off x="512874" y="1692450"/>
            <a:ext cx="5434489" cy="3665125"/>
          </a:xfrm>
          <a:custGeom>
            <a:avLst/>
            <a:gdLst/>
            <a:ahLst/>
            <a:cxnLst/>
            <a:rect l="l" t="t" r="r" b="b"/>
            <a:pathLst>
              <a:path w="5434489" h="3665125">
                <a:moveTo>
                  <a:pt x="0" y="0"/>
                </a:moveTo>
                <a:lnTo>
                  <a:pt x="5434488" y="0"/>
                </a:lnTo>
                <a:lnTo>
                  <a:pt x="5434488" y="3665124"/>
                </a:lnTo>
                <a:lnTo>
                  <a:pt x="0" y="3665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51427" y="1834991"/>
            <a:ext cx="664273" cy="664274"/>
          </a:xfrm>
          <a:custGeom>
            <a:avLst/>
            <a:gdLst/>
            <a:ahLst/>
            <a:cxnLst/>
            <a:rect l="l" t="t" r="r" b="b"/>
            <a:pathLst>
              <a:path w="664273" h="664274">
                <a:moveTo>
                  <a:pt x="0" y="0"/>
                </a:moveTo>
                <a:lnTo>
                  <a:pt x="664274" y="0"/>
                </a:lnTo>
                <a:lnTo>
                  <a:pt x="664274" y="664274"/>
                </a:lnTo>
                <a:lnTo>
                  <a:pt x="0" y="6642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768096" y="1851660"/>
            <a:ext cx="630936" cy="630936"/>
            <a:chOff x="0" y="0"/>
            <a:chExt cx="841248" cy="8412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3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68096" y="1815941"/>
            <a:ext cx="630936" cy="666655"/>
            <a:chOff x="0" y="0"/>
            <a:chExt cx="841248" cy="8888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41248" cy="888873"/>
            </a:xfrm>
            <a:custGeom>
              <a:avLst/>
              <a:gdLst/>
              <a:ahLst/>
              <a:cxnLst/>
              <a:rect l="l" t="t" r="r" b="b"/>
              <a:pathLst>
                <a:path w="841248" h="888873">
                  <a:moveTo>
                    <a:pt x="0" y="0"/>
                  </a:moveTo>
                  <a:lnTo>
                    <a:pt x="841248" y="0"/>
                  </a:lnTo>
                  <a:lnTo>
                    <a:pt x="841248" y="888873"/>
                  </a:lnTo>
                  <a:lnTo>
                    <a:pt x="0" y="888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67" r="-8556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41248" cy="936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52744" y="2990088"/>
            <a:ext cx="493776" cy="384048"/>
            <a:chOff x="0" y="0"/>
            <a:chExt cx="658368" cy="5120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8368" cy="512064"/>
            </a:xfrm>
            <a:custGeom>
              <a:avLst/>
              <a:gdLst/>
              <a:ahLst/>
              <a:cxnLst/>
              <a:rect l="l" t="t" r="r" b="b"/>
              <a:pathLst>
                <a:path w="658368" h="512064">
                  <a:moveTo>
                    <a:pt x="0" y="0"/>
                  </a:moveTo>
                  <a:lnTo>
                    <a:pt x="658368" y="0"/>
                  </a:lnTo>
                  <a:lnTo>
                    <a:pt x="65836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61" r="-49861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5952744" y="2961513"/>
            <a:ext cx="493776" cy="412623"/>
            <a:chOff x="0" y="0"/>
            <a:chExt cx="658368" cy="5501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8368" cy="550164"/>
            </a:xfrm>
            <a:custGeom>
              <a:avLst/>
              <a:gdLst/>
              <a:ahLst/>
              <a:cxnLst/>
              <a:rect l="l" t="t" r="r" b="b"/>
              <a:pathLst>
                <a:path w="658368" h="550164">
                  <a:moveTo>
                    <a:pt x="0" y="0"/>
                  </a:moveTo>
                  <a:lnTo>
                    <a:pt x="658368" y="0"/>
                  </a:lnTo>
                  <a:lnTo>
                    <a:pt x="658368" y="550164"/>
                  </a:lnTo>
                  <a:lnTo>
                    <a:pt x="0" y="550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216" r="-5721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58368" cy="5882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280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32104" y="2575560"/>
            <a:ext cx="479602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Assembling Entry, Exit &amp; Display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2104" y="3280410"/>
            <a:ext cx="479602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Wired ultrasonic sensors, servo motors for both gates, the RFID reader/writer, and the I2C LCD building the core physical infrastructure.</a:t>
            </a:r>
          </a:p>
        </p:txBody>
      </p:sp>
      <p:sp>
        <p:nvSpPr>
          <p:cNvPr id="30" name="Freeform 30"/>
          <p:cNvSpPr/>
          <p:nvPr/>
        </p:nvSpPr>
        <p:spPr>
          <a:xfrm>
            <a:off x="677466" y="4545378"/>
            <a:ext cx="5105305" cy="620173"/>
          </a:xfrm>
          <a:custGeom>
            <a:avLst/>
            <a:gdLst/>
            <a:ahLst/>
            <a:cxnLst/>
            <a:rect l="l" t="t" r="r" b="b"/>
            <a:pathLst>
              <a:path w="5105305" h="620173">
                <a:moveTo>
                  <a:pt x="0" y="0"/>
                </a:moveTo>
                <a:lnTo>
                  <a:pt x="5105304" y="0"/>
                </a:lnTo>
                <a:lnTo>
                  <a:pt x="5105304" y="620172"/>
                </a:lnTo>
                <a:lnTo>
                  <a:pt x="0" y="620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792575" y="4646771"/>
            <a:ext cx="403669" cy="403670"/>
          </a:xfrm>
          <a:custGeom>
            <a:avLst/>
            <a:gdLst/>
            <a:ahLst/>
            <a:cxnLst/>
            <a:rect l="l" t="t" r="r" b="b"/>
            <a:pathLst>
              <a:path w="403669" h="403670">
                <a:moveTo>
                  <a:pt x="0" y="0"/>
                </a:moveTo>
                <a:lnTo>
                  <a:pt x="403670" y="0"/>
                </a:lnTo>
                <a:lnTo>
                  <a:pt x="403670" y="403670"/>
                </a:lnTo>
                <a:lnTo>
                  <a:pt x="0" y="403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809244" y="4649724"/>
            <a:ext cx="370332" cy="370332"/>
            <a:chOff x="0" y="0"/>
            <a:chExt cx="493776" cy="4937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3776" cy="493776"/>
            </a:xfrm>
            <a:custGeom>
              <a:avLst/>
              <a:gdLst/>
              <a:ahLst/>
              <a:cxnLst/>
              <a:rect l="l" t="t" r="r" b="b"/>
              <a:pathLst>
                <a:path w="493776" h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809244" y="4635436"/>
            <a:ext cx="370332" cy="384620"/>
            <a:chOff x="0" y="0"/>
            <a:chExt cx="493776" cy="51282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93776" cy="512826"/>
            </a:xfrm>
            <a:custGeom>
              <a:avLst/>
              <a:gdLst/>
              <a:ahLst/>
              <a:cxnLst/>
              <a:rect l="l" t="t" r="r" b="b"/>
              <a:pathLst>
                <a:path w="493776" h="512826">
                  <a:moveTo>
                    <a:pt x="0" y="0"/>
                  </a:moveTo>
                  <a:lnTo>
                    <a:pt x="493776" y="0"/>
                  </a:lnTo>
                  <a:lnTo>
                    <a:pt x="493776" y="512826"/>
                  </a:lnTo>
                  <a:lnTo>
                    <a:pt x="0" y="512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53" r="-8325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493776" cy="5318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8"/>
                </a:lnSpc>
              </a:pPr>
              <a:r>
                <a:rPr lang="en-US" sz="1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75588" y="4622292"/>
            <a:ext cx="4485132" cy="438912"/>
            <a:chOff x="0" y="0"/>
            <a:chExt cx="5980176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980176" cy="585216"/>
            </a:xfrm>
            <a:custGeom>
              <a:avLst/>
              <a:gdLst/>
              <a:ahLst/>
              <a:cxnLst/>
              <a:rect l="l" t="t" r="r" b="b"/>
              <a:pathLst>
                <a:path w="5980176" h="585216">
                  <a:moveTo>
                    <a:pt x="0" y="0"/>
                  </a:moveTo>
                  <a:lnTo>
                    <a:pt x="5980176" y="0"/>
                  </a:lnTo>
                  <a:lnTo>
                    <a:pt x="598017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8973" b="-148975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275588" y="4600861"/>
            <a:ext cx="4485132" cy="460343"/>
            <a:chOff x="0" y="0"/>
            <a:chExt cx="5980176" cy="61379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980176" cy="613791"/>
            </a:xfrm>
            <a:custGeom>
              <a:avLst/>
              <a:gdLst/>
              <a:ahLst/>
              <a:cxnLst/>
              <a:rect l="l" t="t" r="r" b="b"/>
              <a:pathLst>
                <a:path w="5980176" h="613791">
                  <a:moveTo>
                    <a:pt x="0" y="0"/>
                  </a:moveTo>
                  <a:lnTo>
                    <a:pt x="5980176" y="0"/>
                  </a:lnTo>
                  <a:lnTo>
                    <a:pt x="5980176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843" b="-13984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5980176" cy="642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gate &amp; display hardware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6679" y="1601819"/>
            <a:ext cx="5451158" cy="115634"/>
            <a:chOff x="0" y="0"/>
            <a:chExt cx="7268210" cy="15417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268210" cy="154178"/>
            </a:xfrm>
            <a:custGeom>
              <a:avLst/>
              <a:gdLst/>
              <a:ahLst/>
              <a:cxnLst/>
              <a:rect l="l" t="t" r="r" b="b"/>
              <a:pathLst>
                <a:path w="7268210" h="154178">
                  <a:moveTo>
                    <a:pt x="0" y="0"/>
                  </a:moveTo>
                  <a:lnTo>
                    <a:pt x="7268210" y="0"/>
                  </a:lnTo>
                  <a:lnTo>
                    <a:pt x="7268210" y="154178"/>
                  </a:lnTo>
                  <a:lnTo>
                    <a:pt x="0" y="154178"/>
                  </a:ln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sp>
        <p:nvSpPr>
          <p:cNvPr id="44" name="Freeform 44"/>
          <p:cNvSpPr/>
          <p:nvPr/>
        </p:nvSpPr>
        <p:spPr>
          <a:xfrm>
            <a:off x="6205014" y="1692450"/>
            <a:ext cx="5434489" cy="3665125"/>
          </a:xfrm>
          <a:custGeom>
            <a:avLst/>
            <a:gdLst/>
            <a:ahLst/>
            <a:cxnLst/>
            <a:rect l="l" t="t" r="r" b="b"/>
            <a:pathLst>
              <a:path w="5434489" h="3665125">
                <a:moveTo>
                  <a:pt x="0" y="0"/>
                </a:moveTo>
                <a:lnTo>
                  <a:pt x="5434488" y="0"/>
                </a:lnTo>
                <a:lnTo>
                  <a:pt x="5434488" y="3665124"/>
                </a:lnTo>
                <a:lnTo>
                  <a:pt x="0" y="3665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6443567" y="1834991"/>
            <a:ext cx="664274" cy="664274"/>
          </a:xfrm>
          <a:custGeom>
            <a:avLst/>
            <a:gdLst/>
            <a:ahLst/>
            <a:cxnLst/>
            <a:rect l="l" t="t" r="r" b="b"/>
            <a:pathLst>
              <a:path w="664274" h="664274">
                <a:moveTo>
                  <a:pt x="0" y="0"/>
                </a:moveTo>
                <a:lnTo>
                  <a:pt x="664274" y="0"/>
                </a:lnTo>
                <a:lnTo>
                  <a:pt x="664274" y="664274"/>
                </a:lnTo>
                <a:lnTo>
                  <a:pt x="0" y="6642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46" name="Group 46"/>
          <p:cNvGrpSpPr/>
          <p:nvPr/>
        </p:nvGrpSpPr>
        <p:grpSpPr>
          <a:xfrm>
            <a:off x="6460236" y="1851660"/>
            <a:ext cx="630936" cy="630936"/>
            <a:chOff x="0" y="0"/>
            <a:chExt cx="841248" cy="8412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3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6460236" y="1815941"/>
            <a:ext cx="630936" cy="666655"/>
            <a:chOff x="0" y="0"/>
            <a:chExt cx="841248" cy="88887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41248" cy="888873"/>
            </a:xfrm>
            <a:custGeom>
              <a:avLst/>
              <a:gdLst/>
              <a:ahLst/>
              <a:cxnLst/>
              <a:rect l="l" t="t" r="r" b="b"/>
              <a:pathLst>
                <a:path w="841248" h="888873">
                  <a:moveTo>
                    <a:pt x="0" y="0"/>
                  </a:moveTo>
                  <a:lnTo>
                    <a:pt x="841248" y="0"/>
                  </a:lnTo>
                  <a:lnTo>
                    <a:pt x="841248" y="888873"/>
                  </a:lnTo>
                  <a:lnTo>
                    <a:pt x="0" y="888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67" r="-85567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841248" cy="936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644884" y="2990088"/>
            <a:ext cx="493776" cy="384048"/>
            <a:chOff x="0" y="0"/>
            <a:chExt cx="658368" cy="51206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58368" cy="512064"/>
            </a:xfrm>
            <a:custGeom>
              <a:avLst/>
              <a:gdLst/>
              <a:ahLst/>
              <a:cxnLst/>
              <a:rect l="l" t="t" r="r" b="b"/>
              <a:pathLst>
                <a:path w="658368" h="512064">
                  <a:moveTo>
                    <a:pt x="0" y="0"/>
                  </a:moveTo>
                  <a:lnTo>
                    <a:pt x="658368" y="0"/>
                  </a:lnTo>
                  <a:lnTo>
                    <a:pt x="65836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61" r="-49861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1644884" y="2961513"/>
            <a:ext cx="493776" cy="412623"/>
            <a:chOff x="0" y="0"/>
            <a:chExt cx="658368" cy="55016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58368" cy="550164"/>
            </a:xfrm>
            <a:custGeom>
              <a:avLst/>
              <a:gdLst/>
              <a:ahLst/>
              <a:cxnLst/>
              <a:rect l="l" t="t" r="r" b="b"/>
              <a:pathLst>
                <a:path w="658368" h="550164">
                  <a:moveTo>
                    <a:pt x="0" y="0"/>
                  </a:moveTo>
                  <a:lnTo>
                    <a:pt x="658368" y="0"/>
                  </a:lnTo>
                  <a:lnTo>
                    <a:pt x="658368" y="550164"/>
                  </a:lnTo>
                  <a:lnTo>
                    <a:pt x="0" y="550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216" r="-57216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658368" cy="5882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280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524244" y="2575560"/>
            <a:ext cx="479602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Adding IR Sensors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24244" y="3280410"/>
            <a:ext cx="479602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Fitted IR sensors at each parking slot and beneath both gates for real-time occupancy detection and anti-crush safety.</a:t>
            </a:r>
          </a:p>
        </p:txBody>
      </p:sp>
      <p:sp>
        <p:nvSpPr>
          <p:cNvPr id="58" name="Freeform 58"/>
          <p:cNvSpPr/>
          <p:nvPr/>
        </p:nvSpPr>
        <p:spPr>
          <a:xfrm>
            <a:off x="6369606" y="4545378"/>
            <a:ext cx="5105305" cy="620173"/>
          </a:xfrm>
          <a:custGeom>
            <a:avLst/>
            <a:gdLst/>
            <a:ahLst/>
            <a:cxnLst/>
            <a:rect l="l" t="t" r="r" b="b"/>
            <a:pathLst>
              <a:path w="5105305" h="620173">
                <a:moveTo>
                  <a:pt x="0" y="0"/>
                </a:moveTo>
                <a:lnTo>
                  <a:pt x="5105304" y="0"/>
                </a:lnTo>
                <a:lnTo>
                  <a:pt x="5105304" y="620172"/>
                </a:lnTo>
                <a:lnTo>
                  <a:pt x="0" y="620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6484715" y="4646771"/>
            <a:ext cx="403669" cy="403670"/>
          </a:xfrm>
          <a:custGeom>
            <a:avLst/>
            <a:gdLst/>
            <a:ahLst/>
            <a:cxnLst/>
            <a:rect l="l" t="t" r="r" b="b"/>
            <a:pathLst>
              <a:path w="403669" h="403670">
                <a:moveTo>
                  <a:pt x="0" y="0"/>
                </a:moveTo>
                <a:lnTo>
                  <a:pt x="403670" y="0"/>
                </a:lnTo>
                <a:lnTo>
                  <a:pt x="403670" y="403670"/>
                </a:lnTo>
                <a:lnTo>
                  <a:pt x="0" y="403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60" name="Group 60"/>
          <p:cNvGrpSpPr/>
          <p:nvPr/>
        </p:nvGrpSpPr>
        <p:grpSpPr>
          <a:xfrm>
            <a:off x="6501384" y="4649724"/>
            <a:ext cx="370332" cy="370332"/>
            <a:chOff x="0" y="0"/>
            <a:chExt cx="493776" cy="49377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93776" cy="493776"/>
            </a:xfrm>
            <a:custGeom>
              <a:avLst/>
              <a:gdLst/>
              <a:ahLst/>
              <a:cxnLst/>
              <a:rect l="l" t="t" r="r" b="b"/>
              <a:pathLst>
                <a:path w="493776" h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6501384" y="4635436"/>
            <a:ext cx="370332" cy="384620"/>
            <a:chOff x="0" y="0"/>
            <a:chExt cx="493776" cy="51282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93776" cy="512826"/>
            </a:xfrm>
            <a:custGeom>
              <a:avLst/>
              <a:gdLst/>
              <a:ahLst/>
              <a:cxnLst/>
              <a:rect l="l" t="t" r="r" b="b"/>
              <a:pathLst>
                <a:path w="493776" h="512826">
                  <a:moveTo>
                    <a:pt x="0" y="0"/>
                  </a:moveTo>
                  <a:lnTo>
                    <a:pt x="493776" y="0"/>
                  </a:lnTo>
                  <a:lnTo>
                    <a:pt x="493776" y="512826"/>
                  </a:lnTo>
                  <a:lnTo>
                    <a:pt x="0" y="512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53" r="-83253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493776" cy="5318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8"/>
                </a:lnSpc>
              </a:pPr>
              <a:r>
                <a:rPr lang="en-US" sz="1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967728" y="4622292"/>
            <a:ext cx="4485132" cy="438912"/>
            <a:chOff x="0" y="0"/>
            <a:chExt cx="5980176" cy="5852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980176" cy="585216"/>
            </a:xfrm>
            <a:custGeom>
              <a:avLst/>
              <a:gdLst/>
              <a:ahLst/>
              <a:cxnLst/>
              <a:rect l="l" t="t" r="r" b="b"/>
              <a:pathLst>
                <a:path w="5980176" h="585216">
                  <a:moveTo>
                    <a:pt x="0" y="0"/>
                  </a:moveTo>
                  <a:lnTo>
                    <a:pt x="5980176" y="0"/>
                  </a:lnTo>
                  <a:lnTo>
                    <a:pt x="598017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8973" b="-148975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6967728" y="4600861"/>
            <a:ext cx="4485132" cy="460343"/>
            <a:chOff x="0" y="0"/>
            <a:chExt cx="5980176" cy="61379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980176" cy="613791"/>
            </a:xfrm>
            <a:custGeom>
              <a:avLst/>
              <a:gdLst/>
              <a:ahLst/>
              <a:cxnLst/>
              <a:rect l="l" t="t" r="r" b="b"/>
              <a:pathLst>
                <a:path w="5980176" h="613791">
                  <a:moveTo>
                    <a:pt x="0" y="0"/>
                  </a:moveTo>
                  <a:lnTo>
                    <a:pt x="5980176" y="0"/>
                  </a:lnTo>
                  <a:lnTo>
                    <a:pt x="5980176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843" b="-13984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5980176" cy="642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 detection &amp; anti-crush safety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888819" y="1601819"/>
            <a:ext cx="5451158" cy="115634"/>
            <a:chOff x="0" y="0"/>
            <a:chExt cx="7268210" cy="15417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268210" cy="154178"/>
            </a:xfrm>
            <a:custGeom>
              <a:avLst/>
              <a:gdLst/>
              <a:ahLst/>
              <a:cxnLst/>
              <a:rect l="l" t="t" r="r" b="b"/>
              <a:pathLst>
                <a:path w="7268210" h="154178">
                  <a:moveTo>
                    <a:pt x="0" y="0"/>
                  </a:moveTo>
                  <a:lnTo>
                    <a:pt x="7268210" y="0"/>
                  </a:lnTo>
                  <a:lnTo>
                    <a:pt x="7268210" y="154178"/>
                  </a:lnTo>
                  <a:lnTo>
                    <a:pt x="0" y="154178"/>
                  </a:lnTo>
                  <a:close/>
                </a:path>
              </a:pathLst>
            </a:custGeom>
            <a:solidFill>
              <a:srgbClr val="0D1B2A"/>
            </a:solidFill>
            <a:ln w="19050" cap="sq">
              <a:solidFill>
                <a:srgbClr val="0D1B2A"/>
              </a:solidFill>
              <a:prstDash val="solid"/>
              <a:miter/>
            </a:ln>
          </p:spPr>
        </p:sp>
      </p:grpSp>
      <p:sp>
        <p:nvSpPr>
          <p:cNvPr id="72" name="Freeform 72"/>
          <p:cNvSpPr/>
          <p:nvPr/>
        </p:nvSpPr>
        <p:spPr>
          <a:xfrm>
            <a:off x="11897154" y="1692450"/>
            <a:ext cx="5434489" cy="3665125"/>
          </a:xfrm>
          <a:custGeom>
            <a:avLst/>
            <a:gdLst/>
            <a:ahLst/>
            <a:cxnLst/>
            <a:rect l="l" t="t" r="r" b="b"/>
            <a:pathLst>
              <a:path w="5434489" h="3665125">
                <a:moveTo>
                  <a:pt x="0" y="0"/>
                </a:moveTo>
                <a:lnTo>
                  <a:pt x="5434488" y="0"/>
                </a:lnTo>
                <a:lnTo>
                  <a:pt x="5434488" y="3665124"/>
                </a:lnTo>
                <a:lnTo>
                  <a:pt x="0" y="3665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12135707" y="1834991"/>
            <a:ext cx="664273" cy="664274"/>
          </a:xfrm>
          <a:custGeom>
            <a:avLst/>
            <a:gdLst/>
            <a:ahLst/>
            <a:cxnLst/>
            <a:rect l="l" t="t" r="r" b="b"/>
            <a:pathLst>
              <a:path w="664273" h="664274">
                <a:moveTo>
                  <a:pt x="0" y="0"/>
                </a:moveTo>
                <a:lnTo>
                  <a:pt x="664274" y="0"/>
                </a:lnTo>
                <a:lnTo>
                  <a:pt x="664274" y="664274"/>
                </a:lnTo>
                <a:lnTo>
                  <a:pt x="0" y="664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74" name="Group 74"/>
          <p:cNvGrpSpPr/>
          <p:nvPr/>
        </p:nvGrpSpPr>
        <p:grpSpPr>
          <a:xfrm>
            <a:off x="12152376" y="1851660"/>
            <a:ext cx="630936" cy="630936"/>
            <a:chOff x="0" y="0"/>
            <a:chExt cx="841248" cy="8412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3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2152376" y="1815941"/>
            <a:ext cx="630936" cy="666655"/>
            <a:chOff x="0" y="0"/>
            <a:chExt cx="841248" cy="88887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41248" cy="888873"/>
            </a:xfrm>
            <a:custGeom>
              <a:avLst/>
              <a:gdLst/>
              <a:ahLst/>
              <a:cxnLst/>
              <a:rect l="l" t="t" r="r" b="b"/>
              <a:pathLst>
                <a:path w="841248" h="888873">
                  <a:moveTo>
                    <a:pt x="0" y="0"/>
                  </a:moveTo>
                  <a:lnTo>
                    <a:pt x="841248" y="0"/>
                  </a:lnTo>
                  <a:lnTo>
                    <a:pt x="841248" y="888873"/>
                  </a:lnTo>
                  <a:lnTo>
                    <a:pt x="0" y="888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67" r="-8556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841248" cy="936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2216384" y="2575560"/>
            <a:ext cx="479602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Adding the ESP-01 (Wi-Fi)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216384" y="3280410"/>
            <a:ext cx="479602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Attached the ESP-01 module over UART, turning the standalone STM32 board into a connected device that streams live slot data wirelessly.</a:t>
            </a:r>
          </a:p>
        </p:txBody>
      </p:sp>
      <p:sp>
        <p:nvSpPr>
          <p:cNvPr id="81" name="Freeform 81"/>
          <p:cNvSpPr/>
          <p:nvPr/>
        </p:nvSpPr>
        <p:spPr>
          <a:xfrm>
            <a:off x="12061746" y="4545378"/>
            <a:ext cx="5105305" cy="620173"/>
          </a:xfrm>
          <a:custGeom>
            <a:avLst/>
            <a:gdLst/>
            <a:ahLst/>
            <a:cxnLst/>
            <a:rect l="l" t="t" r="r" b="b"/>
            <a:pathLst>
              <a:path w="5105305" h="620173">
                <a:moveTo>
                  <a:pt x="0" y="0"/>
                </a:moveTo>
                <a:lnTo>
                  <a:pt x="5105304" y="0"/>
                </a:lnTo>
                <a:lnTo>
                  <a:pt x="5105304" y="620172"/>
                </a:lnTo>
                <a:lnTo>
                  <a:pt x="0" y="620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>
            <a:off x="12176855" y="4646771"/>
            <a:ext cx="403669" cy="403670"/>
          </a:xfrm>
          <a:custGeom>
            <a:avLst/>
            <a:gdLst/>
            <a:ahLst/>
            <a:cxnLst/>
            <a:rect l="l" t="t" r="r" b="b"/>
            <a:pathLst>
              <a:path w="403669" h="403670">
                <a:moveTo>
                  <a:pt x="0" y="0"/>
                </a:moveTo>
                <a:lnTo>
                  <a:pt x="403670" y="0"/>
                </a:lnTo>
                <a:lnTo>
                  <a:pt x="403670" y="403670"/>
                </a:lnTo>
                <a:lnTo>
                  <a:pt x="0" y="403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83" name="Group 83"/>
          <p:cNvGrpSpPr/>
          <p:nvPr/>
        </p:nvGrpSpPr>
        <p:grpSpPr>
          <a:xfrm>
            <a:off x="12193524" y="4649724"/>
            <a:ext cx="370332" cy="370332"/>
            <a:chOff x="0" y="0"/>
            <a:chExt cx="493776" cy="49377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93776" cy="493776"/>
            </a:xfrm>
            <a:custGeom>
              <a:avLst/>
              <a:gdLst/>
              <a:ahLst/>
              <a:cxnLst/>
              <a:rect l="l" t="t" r="r" b="b"/>
              <a:pathLst>
                <a:path w="493776" h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12193524" y="4635436"/>
            <a:ext cx="370332" cy="384620"/>
            <a:chOff x="0" y="0"/>
            <a:chExt cx="493776" cy="512826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93776" cy="512826"/>
            </a:xfrm>
            <a:custGeom>
              <a:avLst/>
              <a:gdLst/>
              <a:ahLst/>
              <a:cxnLst/>
              <a:rect l="l" t="t" r="r" b="b"/>
              <a:pathLst>
                <a:path w="493776" h="512826">
                  <a:moveTo>
                    <a:pt x="0" y="0"/>
                  </a:moveTo>
                  <a:lnTo>
                    <a:pt x="493776" y="0"/>
                  </a:lnTo>
                  <a:lnTo>
                    <a:pt x="493776" y="512826"/>
                  </a:lnTo>
                  <a:lnTo>
                    <a:pt x="0" y="512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53" r="-83253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19050"/>
              <a:ext cx="493776" cy="5318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8"/>
                </a:lnSpc>
              </a:pPr>
              <a:r>
                <a:rPr lang="en-US" sz="1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2659868" y="4622292"/>
            <a:ext cx="4485132" cy="438912"/>
            <a:chOff x="0" y="0"/>
            <a:chExt cx="5980176" cy="58521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980176" cy="585216"/>
            </a:xfrm>
            <a:custGeom>
              <a:avLst/>
              <a:gdLst/>
              <a:ahLst/>
              <a:cxnLst/>
              <a:rect l="l" t="t" r="r" b="b"/>
              <a:pathLst>
                <a:path w="5980176" h="585216">
                  <a:moveTo>
                    <a:pt x="0" y="0"/>
                  </a:moveTo>
                  <a:lnTo>
                    <a:pt x="5980176" y="0"/>
                  </a:lnTo>
                  <a:lnTo>
                    <a:pt x="598017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8973" b="-148975"/>
              </a:stretch>
            </a:blipFill>
          </p:spPr>
        </p:sp>
      </p:grpSp>
      <p:grpSp>
        <p:nvGrpSpPr>
          <p:cNvPr id="90" name="Group 90"/>
          <p:cNvGrpSpPr/>
          <p:nvPr/>
        </p:nvGrpSpPr>
        <p:grpSpPr>
          <a:xfrm>
            <a:off x="12659868" y="4600861"/>
            <a:ext cx="4485132" cy="460343"/>
            <a:chOff x="0" y="0"/>
            <a:chExt cx="5980176" cy="613791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980176" cy="613791"/>
            </a:xfrm>
            <a:custGeom>
              <a:avLst/>
              <a:gdLst/>
              <a:ahLst/>
              <a:cxnLst/>
              <a:rect l="l" t="t" r="r" b="b"/>
              <a:pathLst>
                <a:path w="5980176" h="613791">
                  <a:moveTo>
                    <a:pt x="0" y="0"/>
                  </a:moveTo>
                  <a:lnTo>
                    <a:pt x="5980176" y="0"/>
                  </a:lnTo>
                  <a:lnTo>
                    <a:pt x="5980176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843" b="-139843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5980176" cy="642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Wireless, networked sensing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04539" y="5634323"/>
            <a:ext cx="5451158" cy="115634"/>
            <a:chOff x="0" y="0"/>
            <a:chExt cx="7268210" cy="154178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268210" cy="154178"/>
            </a:xfrm>
            <a:custGeom>
              <a:avLst/>
              <a:gdLst/>
              <a:ahLst/>
              <a:cxnLst/>
              <a:rect l="l" t="t" r="r" b="b"/>
              <a:pathLst>
                <a:path w="7268210" h="154178">
                  <a:moveTo>
                    <a:pt x="0" y="0"/>
                  </a:moveTo>
                  <a:lnTo>
                    <a:pt x="7268210" y="0"/>
                  </a:lnTo>
                  <a:lnTo>
                    <a:pt x="7268210" y="154178"/>
                  </a:lnTo>
                  <a:lnTo>
                    <a:pt x="0" y="154178"/>
                  </a:ln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sp>
        <p:nvSpPr>
          <p:cNvPr id="95" name="Freeform 95"/>
          <p:cNvSpPr/>
          <p:nvPr/>
        </p:nvSpPr>
        <p:spPr>
          <a:xfrm>
            <a:off x="512874" y="5724954"/>
            <a:ext cx="5434489" cy="3665125"/>
          </a:xfrm>
          <a:custGeom>
            <a:avLst/>
            <a:gdLst/>
            <a:ahLst/>
            <a:cxnLst/>
            <a:rect l="l" t="t" r="r" b="b"/>
            <a:pathLst>
              <a:path w="5434489" h="3665125">
                <a:moveTo>
                  <a:pt x="0" y="0"/>
                </a:moveTo>
                <a:lnTo>
                  <a:pt x="5434488" y="0"/>
                </a:lnTo>
                <a:lnTo>
                  <a:pt x="5434488" y="3665124"/>
                </a:lnTo>
                <a:lnTo>
                  <a:pt x="0" y="3665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6" name="Freeform 96"/>
          <p:cNvSpPr/>
          <p:nvPr/>
        </p:nvSpPr>
        <p:spPr>
          <a:xfrm>
            <a:off x="751427" y="5867495"/>
            <a:ext cx="664273" cy="664274"/>
          </a:xfrm>
          <a:custGeom>
            <a:avLst/>
            <a:gdLst/>
            <a:ahLst/>
            <a:cxnLst/>
            <a:rect l="l" t="t" r="r" b="b"/>
            <a:pathLst>
              <a:path w="664273" h="664274">
                <a:moveTo>
                  <a:pt x="0" y="0"/>
                </a:moveTo>
                <a:lnTo>
                  <a:pt x="664274" y="0"/>
                </a:lnTo>
                <a:lnTo>
                  <a:pt x="664274" y="664274"/>
                </a:lnTo>
                <a:lnTo>
                  <a:pt x="0" y="6642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7" name="Group 97"/>
          <p:cNvGrpSpPr/>
          <p:nvPr/>
        </p:nvGrpSpPr>
        <p:grpSpPr>
          <a:xfrm>
            <a:off x="768096" y="5884164"/>
            <a:ext cx="630936" cy="630936"/>
            <a:chOff x="0" y="0"/>
            <a:chExt cx="841248" cy="84124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3"/>
              </a:stretch>
            </a:blipFill>
          </p:spPr>
        </p:sp>
      </p:grpSp>
      <p:grpSp>
        <p:nvGrpSpPr>
          <p:cNvPr id="99" name="Group 99"/>
          <p:cNvGrpSpPr/>
          <p:nvPr/>
        </p:nvGrpSpPr>
        <p:grpSpPr>
          <a:xfrm>
            <a:off x="768096" y="5848445"/>
            <a:ext cx="630936" cy="666655"/>
            <a:chOff x="0" y="0"/>
            <a:chExt cx="841248" cy="888873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841248" cy="888873"/>
            </a:xfrm>
            <a:custGeom>
              <a:avLst/>
              <a:gdLst/>
              <a:ahLst/>
              <a:cxnLst/>
              <a:rect l="l" t="t" r="r" b="b"/>
              <a:pathLst>
                <a:path w="841248" h="888873">
                  <a:moveTo>
                    <a:pt x="0" y="0"/>
                  </a:moveTo>
                  <a:lnTo>
                    <a:pt x="841248" y="0"/>
                  </a:lnTo>
                  <a:lnTo>
                    <a:pt x="841248" y="888873"/>
                  </a:lnTo>
                  <a:lnTo>
                    <a:pt x="0" y="888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67" r="-85567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47625"/>
              <a:ext cx="841248" cy="936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5952744" y="7022592"/>
            <a:ext cx="493776" cy="384048"/>
            <a:chOff x="0" y="0"/>
            <a:chExt cx="658368" cy="51206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658368" cy="512064"/>
            </a:xfrm>
            <a:custGeom>
              <a:avLst/>
              <a:gdLst/>
              <a:ahLst/>
              <a:cxnLst/>
              <a:rect l="l" t="t" r="r" b="b"/>
              <a:pathLst>
                <a:path w="658368" h="512064">
                  <a:moveTo>
                    <a:pt x="0" y="0"/>
                  </a:moveTo>
                  <a:lnTo>
                    <a:pt x="658368" y="0"/>
                  </a:lnTo>
                  <a:lnTo>
                    <a:pt x="65836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61" r="-49861"/>
              </a:stretch>
            </a:blipFill>
          </p:spPr>
        </p:sp>
      </p:grpSp>
      <p:grpSp>
        <p:nvGrpSpPr>
          <p:cNvPr id="104" name="Group 104"/>
          <p:cNvGrpSpPr/>
          <p:nvPr/>
        </p:nvGrpSpPr>
        <p:grpSpPr>
          <a:xfrm>
            <a:off x="5952744" y="6994017"/>
            <a:ext cx="493776" cy="412623"/>
            <a:chOff x="0" y="0"/>
            <a:chExt cx="658368" cy="55016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658368" cy="550164"/>
            </a:xfrm>
            <a:custGeom>
              <a:avLst/>
              <a:gdLst/>
              <a:ahLst/>
              <a:cxnLst/>
              <a:rect l="l" t="t" r="r" b="b"/>
              <a:pathLst>
                <a:path w="658368" h="550164">
                  <a:moveTo>
                    <a:pt x="0" y="0"/>
                  </a:moveTo>
                  <a:lnTo>
                    <a:pt x="658368" y="0"/>
                  </a:lnTo>
                  <a:lnTo>
                    <a:pt x="658368" y="550164"/>
                  </a:lnTo>
                  <a:lnTo>
                    <a:pt x="0" y="550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216" r="-57216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658368" cy="5882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280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id="107" name="TextBox 107"/>
          <p:cNvSpPr txBox="1"/>
          <p:nvPr/>
        </p:nvSpPr>
        <p:spPr>
          <a:xfrm>
            <a:off x="832104" y="6608064"/>
            <a:ext cx="479602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Building the Web UI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32104" y="7312914"/>
            <a:ext cx="479602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Coded the HTML/CSS/JS dashboard: a live slots map, exit receipt page, and admin view all updating in real time via the ESP-01.</a:t>
            </a:r>
          </a:p>
        </p:txBody>
      </p:sp>
      <p:sp>
        <p:nvSpPr>
          <p:cNvPr id="109" name="Freeform 109"/>
          <p:cNvSpPr/>
          <p:nvPr/>
        </p:nvSpPr>
        <p:spPr>
          <a:xfrm>
            <a:off x="677466" y="8577882"/>
            <a:ext cx="5105305" cy="620173"/>
          </a:xfrm>
          <a:custGeom>
            <a:avLst/>
            <a:gdLst/>
            <a:ahLst/>
            <a:cxnLst/>
            <a:rect l="l" t="t" r="r" b="b"/>
            <a:pathLst>
              <a:path w="5105305" h="620173">
                <a:moveTo>
                  <a:pt x="0" y="0"/>
                </a:moveTo>
                <a:lnTo>
                  <a:pt x="5105304" y="0"/>
                </a:lnTo>
                <a:lnTo>
                  <a:pt x="5105304" y="620172"/>
                </a:lnTo>
                <a:lnTo>
                  <a:pt x="0" y="620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0" name="Freeform 110"/>
          <p:cNvSpPr/>
          <p:nvPr/>
        </p:nvSpPr>
        <p:spPr>
          <a:xfrm>
            <a:off x="792575" y="8679275"/>
            <a:ext cx="403669" cy="403669"/>
          </a:xfrm>
          <a:custGeom>
            <a:avLst/>
            <a:gdLst/>
            <a:ahLst/>
            <a:cxnLst/>
            <a:rect l="l" t="t" r="r" b="b"/>
            <a:pathLst>
              <a:path w="403669" h="403669">
                <a:moveTo>
                  <a:pt x="0" y="0"/>
                </a:moveTo>
                <a:lnTo>
                  <a:pt x="403670" y="0"/>
                </a:lnTo>
                <a:lnTo>
                  <a:pt x="403670" y="403670"/>
                </a:lnTo>
                <a:lnTo>
                  <a:pt x="0" y="403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11" name="Group 111"/>
          <p:cNvGrpSpPr/>
          <p:nvPr/>
        </p:nvGrpSpPr>
        <p:grpSpPr>
          <a:xfrm>
            <a:off x="809244" y="8682228"/>
            <a:ext cx="370332" cy="370332"/>
            <a:chOff x="0" y="0"/>
            <a:chExt cx="493776" cy="493776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493776" cy="493776"/>
            </a:xfrm>
            <a:custGeom>
              <a:avLst/>
              <a:gdLst/>
              <a:ahLst/>
              <a:cxnLst/>
              <a:rect l="l" t="t" r="r" b="b"/>
              <a:pathLst>
                <a:path w="493776" h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13" name="Group 113"/>
          <p:cNvGrpSpPr/>
          <p:nvPr/>
        </p:nvGrpSpPr>
        <p:grpSpPr>
          <a:xfrm>
            <a:off x="809244" y="8667940"/>
            <a:ext cx="370332" cy="384620"/>
            <a:chOff x="0" y="0"/>
            <a:chExt cx="493776" cy="51282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93776" cy="512826"/>
            </a:xfrm>
            <a:custGeom>
              <a:avLst/>
              <a:gdLst/>
              <a:ahLst/>
              <a:cxnLst/>
              <a:rect l="l" t="t" r="r" b="b"/>
              <a:pathLst>
                <a:path w="493776" h="512826">
                  <a:moveTo>
                    <a:pt x="0" y="0"/>
                  </a:moveTo>
                  <a:lnTo>
                    <a:pt x="493776" y="0"/>
                  </a:lnTo>
                  <a:lnTo>
                    <a:pt x="493776" y="512826"/>
                  </a:lnTo>
                  <a:lnTo>
                    <a:pt x="0" y="512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53" r="-83253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19050"/>
              <a:ext cx="493776" cy="5318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8"/>
                </a:lnSpc>
              </a:pPr>
              <a:r>
                <a:rPr lang="en-US" sz="1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275588" y="8654796"/>
            <a:ext cx="4485132" cy="438912"/>
            <a:chOff x="0" y="0"/>
            <a:chExt cx="5980176" cy="585216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5980176" cy="585216"/>
            </a:xfrm>
            <a:custGeom>
              <a:avLst/>
              <a:gdLst/>
              <a:ahLst/>
              <a:cxnLst/>
              <a:rect l="l" t="t" r="r" b="b"/>
              <a:pathLst>
                <a:path w="5980176" h="585216">
                  <a:moveTo>
                    <a:pt x="0" y="0"/>
                  </a:moveTo>
                  <a:lnTo>
                    <a:pt x="5980176" y="0"/>
                  </a:lnTo>
                  <a:lnTo>
                    <a:pt x="598017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8973" b="-148975"/>
              </a:stretch>
            </a:blipFill>
          </p:spPr>
        </p:sp>
      </p:grpSp>
      <p:grpSp>
        <p:nvGrpSpPr>
          <p:cNvPr id="118" name="Group 118"/>
          <p:cNvGrpSpPr/>
          <p:nvPr/>
        </p:nvGrpSpPr>
        <p:grpSpPr>
          <a:xfrm>
            <a:off x="1275588" y="8633365"/>
            <a:ext cx="4485132" cy="460343"/>
            <a:chOff x="0" y="0"/>
            <a:chExt cx="5980176" cy="613791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5980176" cy="613791"/>
            </a:xfrm>
            <a:custGeom>
              <a:avLst/>
              <a:gdLst/>
              <a:ahLst/>
              <a:cxnLst/>
              <a:rect l="l" t="t" r="r" b="b"/>
              <a:pathLst>
                <a:path w="5980176" h="613791">
                  <a:moveTo>
                    <a:pt x="0" y="0"/>
                  </a:moveTo>
                  <a:lnTo>
                    <a:pt x="5980176" y="0"/>
                  </a:lnTo>
                  <a:lnTo>
                    <a:pt x="5980176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843" b="-139843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28575"/>
              <a:ext cx="5980176" cy="642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&amp; admin web pages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6196679" y="5634323"/>
            <a:ext cx="5451158" cy="115634"/>
            <a:chOff x="0" y="0"/>
            <a:chExt cx="7268210" cy="154178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7268210" cy="154178"/>
            </a:xfrm>
            <a:custGeom>
              <a:avLst/>
              <a:gdLst/>
              <a:ahLst/>
              <a:cxnLst/>
              <a:rect l="l" t="t" r="r" b="b"/>
              <a:pathLst>
                <a:path w="7268210" h="154178">
                  <a:moveTo>
                    <a:pt x="0" y="0"/>
                  </a:moveTo>
                  <a:lnTo>
                    <a:pt x="7268210" y="0"/>
                  </a:lnTo>
                  <a:lnTo>
                    <a:pt x="7268210" y="154178"/>
                  </a:lnTo>
                  <a:lnTo>
                    <a:pt x="0" y="154178"/>
                  </a:ln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sp>
        <p:nvSpPr>
          <p:cNvPr id="123" name="Freeform 123"/>
          <p:cNvSpPr/>
          <p:nvPr/>
        </p:nvSpPr>
        <p:spPr>
          <a:xfrm>
            <a:off x="6205014" y="5724954"/>
            <a:ext cx="5434489" cy="3665125"/>
          </a:xfrm>
          <a:custGeom>
            <a:avLst/>
            <a:gdLst/>
            <a:ahLst/>
            <a:cxnLst/>
            <a:rect l="l" t="t" r="r" b="b"/>
            <a:pathLst>
              <a:path w="5434489" h="3665125">
                <a:moveTo>
                  <a:pt x="0" y="0"/>
                </a:moveTo>
                <a:lnTo>
                  <a:pt x="5434488" y="0"/>
                </a:lnTo>
                <a:lnTo>
                  <a:pt x="5434488" y="3665124"/>
                </a:lnTo>
                <a:lnTo>
                  <a:pt x="0" y="3665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4" name="Freeform 124"/>
          <p:cNvSpPr/>
          <p:nvPr/>
        </p:nvSpPr>
        <p:spPr>
          <a:xfrm>
            <a:off x="6443567" y="5867495"/>
            <a:ext cx="664274" cy="664274"/>
          </a:xfrm>
          <a:custGeom>
            <a:avLst/>
            <a:gdLst/>
            <a:ahLst/>
            <a:cxnLst/>
            <a:rect l="l" t="t" r="r" b="b"/>
            <a:pathLst>
              <a:path w="664274" h="664274">
                <a:moveTo>
                  <a:pt x="0" y="0"/>
                </a:moveTo>
                <a:lnTo>
                  <a:pt x="664274" y="0"/>
                </a:lnTo>
                <a:lnTo>
                  <a:pt x="664274" y="664274"/>
                </a:lnTo>
                <a:lnTo>
                  <a:pt x="0" y="664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25" name="Group 125"/>
          <p:cNvGrpSpPr/>
          <p:nvPr/>
        </p:nvGrpSpPr>
        <p:grpSpPr>
          <a:xfrm>
            <a:off x="6460236" y="5884164"/>
            <a:ext cx="630936" cy="630936"/>
            <a:chOff x="0" y="0"/>
            <a:chExt cx="841248" cy="841248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3"/>
              </a:stretch>
            </a:blipFill>
          </p:spPr>
        </p:sp>
      </p:grpSp>
      <p:grpSp>
        <p:nvGrpSpPr>
          <p:cNvPr id="127" name="Group 127"/>
          <p:cNvGrpSpPr/>
          <p:nvPr/>
        </p:nvGrpSpPr>
        <p:grpSpPr>
          <a:xfrm>
            <a:off x="6460236" y="5848445"/>
            <a:ext cx="630936" cy="666655"/>
            <a:chOff x="0" y="0"/>
            <a:chExt cx="841248" cy="888873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841248" cy="888873"/>
            </a:xfrm>
            <a:custGeom>
              <a:avLst/>
              <a:gdLst/>
              <a:ahLst/>
              <a:cxnLst/>
              <a:rect l="l" t="t" r="r" b="b"/>
              <a:pathLst>
                <a:path w="841248" h="888873">
                  <a:moveTo>
                    <a:pt x="0" y="0"/>
                  </a:moveTo>
                  <a:lnTo>
                    <a:pt x="841248" y="0"/>
                  </a:lnTo>
                  <a:lnTo>
                    <a:pt x="841248" y="888873"/>
                  </a:lnTo>
                  <a:lnTo>
                    <a:pt x="0" y="888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67" r="-85567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-47625"/>
              <a:ext cx="841248" cy="936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1644884" y="7022592"/>
            <a:ext cx="493776" cy="384048"/>
            <a:chOff x="0" y="0"/>
            <a:chExt cx="658368" cy="512064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658368" cy="512064"/>
            </a:xfrm>
            <a:custGeom>
              <a:avLst/>
              <a:gdLst/>
              <a:ahLst/>
              <a:cxnLst/>
              <a:rect l="l" t="t" r="r" b="b"/>
              <a:pathLst>
                <a:path w="658368" h="512064">
                  <a:moveTo>
                    <a:pt x="0" y="0"/>
                  </a:moveTo>
                  <a:lnTo>
                    <a:pt x="658368" y="0"/>
                  </a:lnTo>
                  <a:lnTo>
                    <a:pt x="65836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61" r="-49861"/>
              </a:stretch>
            </a:blipFill>
          </p:spPr>
        </p:sp>
      </p:grpSp>
      <p:grpSp>
        <p:nvGrpSpPr>
          <p:cNvPr id="132" name="Group 132"/>
          <p:cNvGrpSpPr/>
          <p:nvPr/>
        </p:nvGrpSpPr>
        <p:grpSpPr>
          <a:xfrm>
            <a:off x="11644884" y="6994017"/>
            <a:ext cx="493776" cy="412623"/>
            <a:chOff x="0" y="0"/>
            <a:chExt cx="658368" cy="55016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658368" cy="550164"/>
            </a:xfrm>
            <a:custGeom>
              <a:avLst/>
              <a:gdLst/>
              <a:ahLst/>
              <a:cxnLst/>
              <a:rect l="l" t="t" r="r" b="b"/>
              <a:pathLst>
                <a:path w="658368" h="550164">
                  <a:moveTo>
                    <a:pt x="0" y="0"/>
                  </a:moveTo>
                  <a:lnTo>
                    <a:pt x="658368" y="0"/>
                  </a:lnTo>
                  <a:lnTo>
                    <a:pt x="658368" y="550164"/>
                  </a:lnTo>
                  <a:lnTo>
                    <a:pt x="0" y="550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216" r="-57216"/>
              </a:stretch>
            </a:blipFill>
          </p:spPr>
        </p:sp>
        <p:sp>
          <p:nvSpPr>
            <p:cNvPr id="134" name="TextBox 134"/>
            <p:cNvSpPr txBox="1"/>
            <p:nvPr/>
          </p:nvSpPr>
          <p:spPr>
            <a:xfrm>
              <a:off x="0" y="-38100"/>
              <a:ext cx="658368" cy="5882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2809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id="135" name="TextBox 135"/>
          <p:cNvSpPr txBox="1"/>
          <p:nvPr/>
        </p:nvSpPr>
        <p:spPr>
          <a:xfrm>
            <a:off x="6524244" y="6608064"/>
            <a:ext cx="479602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Maquette Assembly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6524244" y="7312914"/>
            <a:ext cx="479602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Integrated all modules RFID gates, ultrasonics, servos, LCD, IR sensors, flame sensor and buzzer into a physical scale model, tested as one unified FreeRTOS system.</a:t>
            </a:r>
          </a:p>
        </p:txBody>
      </p:sp>
      <p:sp>
        <p:nvSpPr>
          <p:cNvPr id="137" name="Freeform 137"/>
          <p:cNvSpPr/>
          <p:nvPr/>
        </p:nvSpPr>
        <p:spPr>
          <a:xfrm>
            <a:off x="6369606" y="8577882"/>
            <a:ext cx="5105305" cy="620173"/>
          </a:xfrm>
          <a:custGeom>
            <a:avLst/>
            <a:gdLst/>
            <a:ahLst/>
            <a:cxnLst/>
            <a:rect l="l" t="t" r="r" b="b"/>
            <a:pathLst>
              <a:path w="5105305" h="620173">
                <a:moveTo>
                  <a:pt x="0" y="0"/>
                </a:moveTo>
                <a:lnTo>
                  <a:pt x="5105304" y="0"/>
                </a:lnTo>
                <a:lnTo>
                  <a:pt x="5105304" y="620172"/>
                </a:lnTo>
                <a:lnTo>
                  <a:pt x="0" y="620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8" name="Freeform 138"/>
          <p:cNvSpPr/>
          <p:nvPr/>
        </p:nvSpPr>
        <p:spPr>
          <a:xfrm>
            <a:off x="6484715" y="8679275"/>
            <a:ext cx="403669" cy="403669"/>
          </a:xfrm>
          <a:custGeom>
            <a:avLst/>
            <a:gdLst/>
            <a:ahLst/>
            <a:cxnLst/>
            <a:rect l="l" t="t" r="r" b="b"/>
            <a:pathLst>
              <a:path w="403669" h="403669">
                <a:moveTo>
                  <a:pt x="0" y="0"/>
                </a:moveTo>
                <a:lnTo>
                  <a:pt x="403670" y="0"/>
                </a:lnTo>
                <a:lnTo>
                  <a:pt x="403670" y="403670"/>
                </a:lnTo>
                <a:lnTo>
                  <a:pt x="0" y="403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39" name="Group 139"/>
          <p:cNvGrpSpPr/>
          <p:nvPr/>
        </p:nvGrpSpPr>
        <p:grpSpPr>
          <a:xfrm>
            <a:off x="6501384" y="8682228"/>
            <a:ext cx="370332" cy="370332"/>
            <a:chOff x="0" y="0"/>
            <a:chExt cx="493776" cy="493776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493776" cy="493776"/>
            </a:xfrm>
            <a:custGeom>
              <a:avLst/>
              <a:gdLst/>
              <a:ahLst/>
              <a:cxnLst/>
              <a:rect l="l" t="t" r="r" b="b"/>
              <a:pathLst>
                <a:path w="493776" h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41" name="Group 141"/>
          <p:cNvGrpSpPr/>
          <p:nvPr/>
        </p:nvGrpSpPr>
        <p:grpSpPr>
          <a:xfrm>
            <a:off x="6501384" y="8667940"/>
            <a:ext cx="370332" cy="384620"/>
            <a:chOff x="0" y="0"/>
            <a:chExt cx="493776" cy="512826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493776" cy="512826"/>
            </a:xfrm>
            <a:custGeom>
              <a:avLst/>
              <a:gdLst/>
              <a:ahLst/>
              <a:cxnLst/>
              <a:rect l="l" t="t" r="r" b="b"/>
              <a:pathLst>
                <a:path w="493776" h="512826">
                  <a:moveTo>
                    <a:pt x="0" y="0"/>
                  </a:moveTo>
                  <a:lnTo>
                    <a:pt x="493776" y="0"/>
                  </a:lnTo>
                  <a:lnTo>
                    <a:pt x="493776" y="512826"/>
                  </a:lnTo>
                  <a:lnTo>
                    <a:pt x="0" y="512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53" r="-83253"/>
              </a:stretch>
            </a:blipFill>
          </p:spPr>
        </p:sp>
        <p:sp>
          <p:nvSpPr>
            <p:cNvPr id="143" name="TextBox 143"/>
            <p:cNvSpPr txBox="1"/>
            <p:nvPr/>
          </p:nvSpPr>
          <p:spPr>
            <a:xfrm>
              <a:off x="0" y="-19050"/>
              <a:ext cx="493776" cy="5318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8"/>
                </a:lnSpc>
              </a:pPr>
              <a:r>
                <a:rPr lang="en-US" sz="1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6967728" y="8654796"/>
            <a:ext cx="4485132" cy="438912"/>
            <a:chOff x="0" y="0"/>
            <a:chExt cx="5980176" cy="585216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5980176" cy="585216"/>
            </a:xfrm>
            <a:custGeom>
              <a:avLst/>
              <a:gdLst/>
              <a:ahLst/>
              <a:cxnLst/>
              <a:rect l="l" t="t" r="r" b="b"/>
              <a:pathLst>
                <a:path w="5980176" h="585216">
                  <a:moveTo>
                    <a:pt x="0" y="0"/>
                  </a:moveTo>
                  <a:lnTo>
                    <a:pt x="5980176" y="0"/>
                  </a:lnTo>
                  <a:lnTo>
                    <a:pt x="598017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8973" b="-148975"/>
              </a:stretch>
            </a:blipFill>
          </p:spPr>
        </p:sp>
      </p:grpSp>
      <p:grpSp>
        <p:nvGrpSpPr>
          <p:cNvPr id="146" name="Group 146"/>
          <p:cNvGrpSpPr/>
          <p:nvPr/>
        </p:nvGrpSpPr>
        <p:grpSpPr>
          <a:xfrm>
            <a:off x="6967728" y="8633365"/>
            <a:ext cx="4485132" cy="460343"/>
            <a:chOff x="0" y="0"/>
            <a:chExt cx="5980176" cy="613791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5980176" cy="613791"/>
            </a:xfrm>
            <a:custGeom>
              <a:avLst/>
              <a:gdLst/>
              <a:ahLst/>
              <a:cxnLst/>
              <a:rect l="l" t="t" r="r" b="b"/>
              <a:pathLst>
                <a:path w="5980176" h="613791">
                  <a:moveTo>
                    <a:pt x="0" y="0"/>
                  </a:moveTo>
                  <a:lnTo>
                    <a:pt x="5980176" y="0"/>
                  </a:lnTo>
                  <a:lnTo>
                    <a:pt x="5980176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843" b="-139843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28575"/>
              <a:ext cx="5980176" cy="642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working demo model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1888819" y="5634323"/>
            <a:ext cx="5451158" cy="115634"/>
            <a:chOff x="0" y="0"/>
            <a:chExt cx="7268210" cy="154178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7268210" cy="154178"/>
            </a:xfrm>
            <a:custGeom>
              <a:avLst/>
              <a:gdLst/>
              <a:ahLst/>
              <a:cxnLst/>
              <a:rect l="l" t="t" r="r" b="b"/>
              <a:pathLst>
                <a:path w="7268210" h="154178">
                  <a:moveTo>
                    <a:pt x="0" y="0"/>
                  </a:moveTo>
                  <a:lnTo>
                    <a:pt x="7268210" y="0"/>
                  </a:lnTo>
                  <a:lnTo>
                    <a:pt x="7268210" y="154178"/>
                  </a:lnTo>
                  <a:lnTo>
                    <a:pt x="0" y="154178"/>
                  </a:lnTo>
                  <a:close/>
                </a:path>
              </a:pathLst>
            </a:custGeom>
            <a:solidFill>
              <a:srgbClr val="02C39A"/>
            </a:solidFill>
            <a:ln w="19050" cap="sq">
              <a:solidFill>
                <a:srgbClr val="02C39A"/>
              </a:solidFill>
              <a:prstDash val="solid"/>
              <a:miter/>
            </a:ln>
          </p:spPr>
        </p:sp>
      </p:grpSp>
      <p:sp>
        <p:nvSpPr>
          <p:cNvPr id="151" name="Freeform 151"/>
          <p:cNvSpPr/>
          <p:nvPr/>
        </p:nvSpPr>
        <p:spPr>
          <a:xfrm>
            <a:off x="11897154" y="5724954"/>
            <a:ext cx="5434489" cy="3665125"/>
          </a:xfrm>
          <a:custGeom>
            <a:avLst/>
            <a:gdLst/>
            <a:ahLst/>
            <a:cxnLst/>
            <a:rect l="l" t="t" r="r" b="b"/>
            <a:pathLst>
              <a:path w="5434489" h="3665125">
                <a:moveTo>
                  <a:pt x="0" y="0"/>
                </a:moveTo>
                <a:lnTo>
                  <a:pt x="5434488" y="0"/>
                </a:lnTo>
                <a:lnTo>
                  <a:pt x="5434488" y="3665124"/>
                </a:lnTo>
                <a:lnTo>
                  <a:pt x="0" y="3665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2" name="Freeform 152"/>
          <p:cNvSpPr/>
          <p:nvPr/>
        </p:nvSpPr>
        <p:spPr>
          <a:xfrm>
            <a:off x="12135707" y="5867495"/>
            <a:ext cx="664273" cy="664274"/>
          </a:xfrm>
          <a:custGeom>
            <a:avLst/>
            <a:gdLst/>
            <a:ahLst/>
            <a:cxnLst/>
            <a:rect l="l" t="t" r="r" b="b"/>
            <a:pathLst>
              <a:path w="664273" h="664274">
                <a:moveTo>
                  <a:pt x="0" y="0"/>
                </a:moveTo>
                <a:lnTo>
                  <a:pt x="664274" y="0"/>
                </a:lnTo>
                <a:lnTo>
                  <a:pt x="664274" y="664274"/>
                </a:lnTo>
                <a:lnTo>
                  <a:pt x="0" y="6642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3" name="Group 153"/>
          <p:cNvGrpSpPr/>
          <p:nvPr/>
        </p:nvGrpSpPr>
        <p:grpSpPr>
          <a:xfrm>
            <a:off x="12152376" y="5884164"/>
            <a:ext cx="630936" cy="630936"/>
            <a:chOff x="0" y="0"/>
            <a:chExt cx="841248" cy="841248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3"/>
              </a:stretch>
            </a:blipFill>
          </p:spPr>
        </p:sp>
      </p:grpSp>
      <p:grpSp>
        <p:nvGrpSpPr>
          <p:cNvPr id="155" name="Group 155"/>
          <p:cNvGrpSpPr/>
          <p:nvPr/>
        </p:nvGrpSpPr>
        <p:grpSpPr>
          <a:xfrm>
            <a:off x="12152376" y="5848445"/>
            <a:ext cx="630936" cy="666655"/>
            <a:chOff x="0" y="0"/>
            <a:chExt cx="841248" cy="888873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841248" cy="888873"/>
            </a:xfrm>
            <a:custGeom>
              <a:avLst/>
              <a:gdLst/>
              <a:ahLst/>
              <a:cxnLst/>
              <a:rect l="l" t="t" r="r" b="b"/>
              <a:pathLst>
                <a:path w="841248" h="888873">
                  <a:moveTo>
                    <a:pt x="0" y="0"/>
                  </a:moveTo>
                  <a:lnTo>
                    <a:pt x="841248" y="0"/>
                  </a:lnTo>
                  <a:lnTo>
                    <a:pt x="841248" y="888873"/>
                  </a:lnTo>
                  <a:lnTo>
                    <a:pt x="0" y="888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67" r="-85567"/>
              </a:stretch>
            </a:blipFill>
          </p:spPr>
        </p:sp>
        <p:sp>
          <p:nvSpPr>
            <p:cNvPr id="157" name="TextBox 157"/>
            <p:cNvSpPr txBox="1"/>
            <p:nvPr/>
          </p:nvSpPr>
          <p:spPr>
            <a:xfrm>
              <a:off x="0" y="-47625"/>
              <a:ext cx="841248" cy="936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id="158" name="TextBox 158"/>
          <p:cNvSpPr txBox="1"/>
          <p:nvPr/>
        </p:nvSpPr>
        <p:spPr>
          <a:xfrm>
            <a:off x="12216384" y="6608064"/>
            <a:ext cx="479602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Standalone Power Supply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12216384" y="7312914"/>
            <a:ext cx="4796028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649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Connected a dedicated power source through a voltage regulator, making the system fully self-powered and independent of a laptop or USB connection.</a:t>
            </a:r>
          </a:p>
        </p:txBody>
      </p:sp>
      <p:sp>
        <p:nvSpPr>
          <p:cNvPr id="160" name="Freeform 160"/>
          <p:cNvSpPr/>
          <p:nvPr/>
        </p:nvSpPr>
        <p:spPr>
          <a:xfrm>
            <a:off x="12061746" y="8577882"/>
            <a:ext cx="5105305" cy="620173"/>
          </a:xfrm>
          <a:custGeom>
            <a:avLst/>
            <a:gdLst/>
            <a:ahLst/>
            <a:cxnLst/>
            <a:rect l="l" t="t" r="r" b="b"/>
            <a:pathLst>
              <a:path w="5105305" h="620173">
                <a:moveTo>
                  <a:pt x="0" y="0"/>
                </a:moveTo>
                <a:lnTo>
                  <a:pt x="5105304" y="0"/>
                </a:lnTo>
                <a:lnTo>
                  <a:pt x="5105304" y="620172"/>
                </a:lnTo>
                <a:lnTo>
                  <a:pt x="0" y="620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1" name="Freeform 161"/>
          <p:cNvSpPr/>
          <p:nvPr/>
        </p:nvSpPr>
        <p:spPr>
          <a:xfrm>
            <a:off x="12176855" y="8679275"/>
            <a:ext cx="403669" cy="403669"/>
          </a:xfrm>
          <a:custGeom>
            <a:avLst/>
            <a:gdLst/>
            <a:ahLst/>
            <a:cxnLst/>
            <a:rect l="l" t="t" r="r" b="b"/>
            <a:pathLst>
              <a:path w="403669" h="403669">
                <a:moveTo>
                  <a:pt x="0" y="0"/>
                </a:moveTo>
                <a:lnTo>
                  <a:pt x="403670" y="0"/>
                </a:lnTo>
                <a:lnTo>
                  <a:pt x="403670" y="403670"/>
                </a:lnTo>
                <a:lnTo>
                  <a:pt x="0" y="403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62" name="Group 162"/>
          <p:cNvGrpSpPr/>
          <p:nvPr/>
        </p:nvGrpSpPr>
        <p:grpSpPr>
          <a:xfrm>
            <a:off x="12193524" y="8682228"/>
            <a:ext cx="370332" cy="370332"/>
            <a:chOff x="0" y="0"/>
            <a:chExt cx="493776" cy="493776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493776" cy="493776"/>
            </a:xfrm>
            <a:custGeom>
              <a:avLst/>
              <a:gdLst/>
              <a:ahLst/>
              <a:cxnLst/>
              <a:rect l="l" t="t" r="r" b="b"/>
              <a:pathLst>
                <a:path w="493776" h="493776">
                  <a:moveTo>
                    <a:pt x="0" y="0"/>
                  </a:moveTo>
                  <a:lnTo>
                    <a:pt x="493776" y="0"/>
                  </a:lnTo>
                  <a:lnTo>
                    <a:pt x="49377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64" name="Group 164"/>
          <p:cNvGrpSpPr/>
          <p:nvPr/>
        </p:nvGrpSpPr>
        <p:grpSpPr>
          <a:xfrm>
            <a:off x="12193524" y="8667940"/>
            <a:ext cx="370332" cy="384620"/>
            <a:chOff x="0" y="0"/>
            <a:chExt cx="493776" cy="512826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493776" cy="512826"/>
            </a:xfrm>
            <a:custGeom>
              <a:avLst/>
              <a:gdLst/>
              <a:ahLst/>
              <a:cxnLst/>
              <a:rect l="l" t="t" r="r" b="b"/>
              <a:pathLst>
                <a:path w="493776" h="512826">
                  <a:moveTo>
                    <a:pt x="0" y="0"/>
                  </a:moveTo>
                  <a:lnTo>
                    <a:pt x="493776" y="0"/>
                  </a:lnTo>
                  <a:lnTo>
                    <a:pt x="493776" y="512826"/>
                  </a:lnTo>
                  <a:lnTo>
                    <a:pt x="0" y="512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253" r="-83253"/>
              </a:stretch>
            </a:blipFill>
          </p:spPr>
        </p:sp>
        <p:sp>
          <p:nvSpPr>
            <p:cNvPr id="166" name="TextBox 166"/>
            <p:cNvSpPr txBox="1"/>
            <p:nvPr/>
          </p:nvSpPr>
          <p:spPr>
            <a:xfrm>
              <a:off x="0" y="-19050"/>
              <a:ext cx="493776" cy="5318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8"/>
                </a:lnSpc>
              </a:pPr>
              <a:r>
                <a:rPr lang="en-US" sz="1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12659868" y="8654796"/>
            <a:ext cx="4485132" cy="438912"/>
            <a:chOff x="0" y="0"/>
            <a:chExt cx="5980176" cy="585216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5980176" cy="585216"/>
            </a:xfrm>
            <a:custGeom>
              <a:avLst/>
              <a:gdLst/>
              <a:ahLst/>
              <a:cxnLst/>
              <a:rect l="l" t="t" r="r" b="b"/>
              <a:pathLst>
                <a:path w="5980176" h="585216">
                  <a:moveTo>
                    <a:pt x="0" y="0"/>
                  </a:moveTo>
                  <a:lnTo>
                    <a:pt x="5980176" y="0"/>
                  </a:lnTo>
                  <a:lnTo>
                    <a:pt x="598017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8973" b="-148975"/>
              </a:stretch>
            </a:blipFill>
          </p:spPr>
        </p:sp>
      </p:grpSp>
      <p:grpSp>
        <p:nvGrpSpPr>
          <p:cNvPr id="169" name="Group 169"/>
          <p:cNvGrpSpPr/>
          <p:nvPr/>
        </p:nvGrpSpPr>
        <p:grpSpPr>
          <a:xfrm>
            <a:off x="12659868" y="8633365"/>
            <a:ext cx="4485132" cy="460343"/>
            <a:chOff x="0" y="0"/>
            <a:chExt cx="5980176" cy="613791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5980176" cy="613791"/>
            </a:xfrm>
            <a:custGeom>
              <a:avLst/>
              <a:gdLst/>
              <a:ahLst/>
              <a:cxnLst/>
              <a:rect l="l" t="t" r="r" b="b"/>
              <a:pathLst>
                <a:path w="5980176" h="613791">
                  <a:moveTo>
                    <a:pt x="0" y="0"/>
                  </a:moveTo>
                  <a:lnTo>
                    <a:pt x="5980176" y="0"/>
                  </a:lnTo>
                  <a:lnTo>
                    <a:pt x="5980176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843" b="-139843"/>
              </a:stretch>
            </a:blipFill>
          </p:spPr>
        </p:sp>
        <p:sp>
          <p:nvSpPr>
            <p:cNvPr id="171" name="TextBox 171"/>
            <p:cNvSpPr txBox="1"/>
            <p:nvPr/>
          </p:nvSpPr>
          <p:spPr>
            <a:xfrm>
              <a:off x="0" y="-28575"/>
              <a:ext cx="5980176" cy="642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Laptop-free operation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669" y="-16669"/>
            <a:ext cx="18275618" cy="10320338"/>
            <a:chOff x="0" y="0"/>
            <a:chExt cx="24367490" cy="137604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67489" cy="13760450"/>
            </a:xfrm>
            <a:custGeom>
              <a:avLst/>
              <a:gdLst/>
              <a:ahLst/>
              <a:cxnLst/>
              <a:rect l="l" t="t" r="r" b="b"/>
              <a:pathLst>
                <a:path w="24367489" h="13760450">
                  <a:moveTo>
                    <a:pt x="0" y="0"/>
                  </a:moveTo>
                  <a:lnTo>
                    <a:pt x="24367489" y="0"/>
                  </a:lnTo>
                  <a:lnTo>
                    <a:pt x="24367489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F0F2F5"/>
            </a:solidFill>
            <a:ln w="19050" cap="sq">
              <a:solidFill>
                <a:srgbClr val="F0F2F5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85800" y="274320"/>
            <a:ext cx="6858000" cy="356616"/>
            <a:chOff x="0" y="0"/>
            <a:chExt cx="9144000" cy="4754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0" cy="475488"/>
            </a:xfrm>
            <a:custGeom>
              <a:avLst/>
              <a:gdLst/>
              <a:ahLst/>
              <a:cxnLst/>
              <a:rect l="l" t="t" r="r" b="b"/>
              <a:pathLst>
                <a:path w="9144000" h="475488">
                  <a:moveTo>
                    <a:pt x="0" y="0"/>
                  </a:moveTo>
                  <a:lnTo>
                    <a:pt x="9144000" y="0"/>
                  </a:lnTo>
                  <a:lnTo>
                    <a:pt x="9144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4452" b="-32444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245745"/>
            <a:ext cx="6858000" cy="385191"/>
            <a:chOff x="0" y="0"/>
            <a:chExt cx="9144000" cy="5135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513588"/>
            </a:xfrm>
            <a:custGeom>
              <a:avLst/>
              <a:gdLst/>
              <a:ahLst/>
              <a:cxnLst/>
              <a:rect l="l" t="t" r="r" b="b"/>
              <a:pathLst>
                <a:path w="9144000" h="513588">
                  <a:moveTo>
                    <a:pt x="0" y="0"/>
                  </a:moveTo>
                  <a:lnTo>
                    <a:pt x="9144000" y="0"/>
                  </a:lnTo>
                  <a:lnTo>
                    <a:pt x="9144000" y="513588"/>
                  </a:lnTo>
                  <a:lnTo>
                    <a:pt x="0" y="5135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6914" b="-29691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144000" cy="551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•  WHAT IT DOES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603504"/>
            <a:ext cx="16459200" cy="768096"/>
            <a:chOff x="0" y="0"/>
            <a:chExt cx="2194560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024128"/>
            </a:xfrm>
            <a:custGeom>
              <a:avLst/>
              <a:gdLst/>
              <a:ahLst/>
              <a:cxnLst/>
              <a:rect l="l" t="t" r="r" b="b"/>
              <a:pathLst>
                <a:path w="21945600" h="1024128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7245" b="-367247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5800" y="539210"/>
            <a:ext cx="16459200" cy="832390"/>
            <a:chOff x="0" y="0"/>
            <a:chExt cx="21945600" cy="11098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109853"/>
            </a:xfrm>
            <a:custGeom>
              <a:avLst/>
              <a:gdLst/>
              <a:ahLst/>
              <a:cxnLst/>
              <a:rect l="l" t="t" r="r" b="b"/>
              <a:pathLst>
                <a:path w="21945600" h="1109853">
                  <a:moveTo>
                    <a:pt x="0" y="0"/>
                  </a:moveTo>
                  <a:lnTo>
                    <a:pt x="21945600" y="0"/>
                  </a:lnTo>
                  <a:lnTo>
                    <a:pt x="21945600" y="1109853"/>
                  </a:lnTo>
                  <a:lnTo>
                    <a:pt x="0" y="11098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286" b="-33528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21945600" cy="11955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Product Features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06650" y="1555290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45203" y="1738979"/>
            <a:ext cx="691706" cy="691706"/>
          </a:xfrm>
          <a:custGeom>
            <a:avLst/>
            <a:gdLst/>
            <a:ahLst/>
            <a:cxnLst/>
            <a:rect l="l" t="t" r="r" b="b"/>
            <a:pathLst>
              <a:path w="691706" h="691706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61872" y="1755648"/>
            <a:ext cx="658368" cy="658368"/>
            <a:chOff x="0" y="0"/>
            <a:chExt cx="877824" cy="87782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261872" y="1719929"/>
            <a:ext cx="658368" cy="694087"/>
            <a:chOff x="0" y="0"/>
            <a:chExt cx="877824" cy="9254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⊞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71016" y="2493264"/>
            <a:ext cx="203873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Detection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1016" y="2987040"/>
            <a:ext cx="3355848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IR sensors track each space and report free or occupied within seconds.</a:t>
            </a:r>
          </a:p>
        </p:txBody>
      </p:sp>
      <p:sp>
        <p:nvSpPr>
          <p:cNvPr id="23" name="Freeform 23"/>
          <p:cNvSpPr/>
          <p:nvPr/>
        </p:nvSpPr>
        <p:spPr>
          <a:xfrm>
            <a:off x="5121450" y="1555290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360003" y="1738979"/>
            <a:ext cx="691706" cy="691706"/>
          </a:xfrm>
          <a:custGeom>
            <a:avLst/>
            <a:gdLst/>
            <a:ahLst/>
            <a:cxnLst/>
            <a:rect l="l" t="t" r="r" b="b"/>
            <a:pathLst>
              <a:path w="691706" h="691706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376672" y="1755648"/>
            <a:ext cx="658368" cy="658368"/>
            <a:chOff x="0" y="0"/>
            <a:chExt cx="877824" cy="87782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5376672" y="1719929"/>
            <a:ext cx="658368" cy="694087"/>
            <a:chOff x="0" y="0"/>
            <a:chExt cx="877824" cy="92544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▣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385816" y="2493264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LCD Slot Assignment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85816" y="2987040"/>
            <a:ext cx="33558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On entry, the driver is assigned a specific slot shown on the I2C LCD.</a:t>
            </a:r>
          </a:p>
        </p:txBody>
      </p:sp>
      <p:sp>
        <p:nvSpPr>
          <p:cNvPr id="32" name="Freeform 32"/>
          <p:cNvSpPr/>
          <p:nvPr/>
        </p:nvSpPr>
        <p:spPr>
          <a:xfrm>
            <a:off x="9236250" y="1555290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474803" y="1738979"/>
            <a:ext cx="691706" cy="691706"/>
          </a:xfrm>
          <a:custGeom>
            <a:avLst/>
            <a:gdLst/>
            <a:ahLst/>
            <a:cxnLst/>
            <a:rect l="l" t="t" r="r" b="b"/>
            <a:pathLst>
              <a:path w="691706" h="691706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9491472" y="1755648"/>
            <a:ext cx="658368" cy="658368"/>
            <a:chOff x="0" y="0"/>
            <a:chExt cx="877824" cy="87782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9491472" y="1719929"/>
            <a:ext cx="658368" cy="694087"/>
            <a:chOff x="0" y="0"/>
            <a:chExt cx="877824" cy="92544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⊙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500616" y="2493264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Automatic Gate Control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00616" y="2987040"/>
            <a:ext cx="33558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Ultrasonic sensors and servos open the barrier for an approaching car.</a:t>
            </a:r>
          </a:p>
        </p:txBody>
      </p:sp>
      <p:sp>
        <p:nvSpPr>
          <p:cNvPr id="41" name="Freeform 41"/>
          <p:cNvSpPr/>
          <p:nvPr/>
        </p:nvSpPr>
        <p:spPr>
          <a:xfrm>
            <a:off x="13351050" y="1555290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589603" y="1738979"/>
            <a:ext cx="691705" cy="691706"/>
          </a:xfrm>
          <a:custGeom>
            <a:avLst/>
            <a:gdLst/>
            <a:ahLst/>
            <a:cxnLst/>
            <a:rect l="l" t="t" r="r" b="b"/>
            <a:pathLst>
              <a:path w="691705" h="691706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13606272" y="1755648"/>
            <a:ext cx="658368" cy="658368"/>
            <a:chOff x="0" y="0"/>
            <a:chExt cx="877824" cy="87782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3606272" y="1719929"/>
            <a:ext cx="658368" cy="694087"/>
            <a:chOff x="0" y="0"/>
            <a:chExt cx="877824" cy="92544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⊛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615416" y="2493264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Anti-Crush Safety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615416" y="2987040"/>
            <a:ext cx="3355848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The gate will not close while an IR sensor detects a car still beneath it and adds a penalty.</a:t>
            </a:r>
          </a:p>
        </p:txBody>
      </p:sp>
      <p:sp>
        <p:nvSpPr>
          <p:cNvPr id="50" name="Freeform 50"/>
          <p:cNvSpPr/>
          <p:nvPr/>
        </p:nvSpPr>
        <p:spPr>
          <a:xfrm>
            <a:off x="1006650" y="4243626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245203" y="4427315"/>
            <a:ext cx="691706" cy="691705"/>
          </a:xfrm>
          <a:custGeom>
            <a:avLst/>
            <a:gdLst/>
            <a:ahLst/>
            <a:cxnLst/>
            <a:rect l="l" t="t" r="r" b="b"/>
            <a:pathLst>
              <a:path w="691706" h="691705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1261872" y="4443984"/>
            <a:ext cx="658368" cy="658368"/>
            <a:chOff x="0" y="0"/>
            <a:chExt cx="877824" cy="8778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261872" y="4408265"/>
            <a:ext cx="658368" cy="694087"/>
            <a:chOff x="0" y="0"/>
            <a:chExt cx="877824" cy="92544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71016" y="5181600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Penalty Charging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71016" y="5675376"/>
            <a:ext cx="33558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Fees are applied to vehicles that linger under the gate too long.</a:t>
            </a:r>
          </a:p>
        </p:txBody>
      </p:sp>
      <p:sp>
        <p:nvSpPr>
          <p:cNvPr id="59" name="Freeform 59"/>
          <p:cNvSpPr/>
          <p:nvPr/>
        </p:nvSpPr>
        <p:spPr>
          <a:xfrm>
            <a:off x="5121450" y="4243626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5360003" y="4427315"/>
            <a:ext cx="691706" cy="691705"/>
          </a:xfrm>
          <a:custGeom>
            <a:avLst/>
            <a:gdLst/>
            <a:ahLst/>
            <a:cxnLst/>
            <a:rect l="l" t="t" r="r" b="b"/>
            <a:pathLst>
              <a:path w="691706" h="691705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1" name="Group 61"/>
          <p:cNvGrpSpPr/>
          <p:nvPr/>
        </p:nvGrpSpPr>
        <p:grpSpPr>
          <a:xfrm>
            <a:off x="5376672" y="4443984"/>
            <a:ext cx="658368" cy="658368"/>
            <a:chOff x="0" y="0"/>
            <a:chExt cx="877824" cy="87782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5376672" y="4408265"/>
            <a:ext cx="658368" cy="694087"/>
            <a:chOff x="0" y="0"/>
            <a:chExt cx="877824" cy="92544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🔥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385816" y="5181600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Fire Alarm &amp; Buzzer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385816" y="5675376"/>
            <a:ext cx="33558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A flame sensor sounds the active buzzer and auto-opens the gates.</a:t>
            </a:r>
          </a:p>
        </p:txBody>
      </p:sp>
      <p:sp>
        <p:nvSpPr>
          <p:cNvPr id="68" name="Freeform 68"/>
          <p:cNvSpPr/>
          <p:nvPr/>
        </p:nvSpPr>
        <p:spPr>
          <a:xfrm>
            <a:off x="9236250" y="4243626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69"/>
          <p:cNvSpPr/>
          <p:nvPr/>
        </p:nvSpPr>
        <p:spPr>
          <a:xfrm>
            <a:off x="9474803" y="4427315"/>
            <a:ext cx="691706" cy="691705"/>
          </a:xfrm>
          <a:custGeom>
            <a:avLst/>
            <a:gdLst/>
            <a:ahLst/>
            <a:cxnLst/>
            <a:rect l="l" t="t" r="r" b="b"/>
            <a:pathLst>
              <a:path w="691706" h="691705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0" name="Group 70"/>
          <p:cNvGrpSpPr/>
          <p:nvPr/>
        </p:nvGrpSpPr>
        <p:grpSpPr>
          <a:xfrm>
            <a:off x="9491472" y="4443984"/>
            <a:ext cx="658368" cy="658368"/>
            <a:chOff x="0" y="0"/>
            <a:chExt cx="877824" cy="87782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9491472" y="4408265"/>
            <a:ext cx="658368" cy="694087"/>
            <a:chOff x="0" y="0"/>
            <a:chExt cx="877824" cy="92544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⊕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9500616" y="5181600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Slots Dashboard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00616" y="5675376"/>
            <a:ext cx="33558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A web page maps every free space and updates as the slot fills.</a:t>
            </a:r>
          </a:p>
        </p:txBody>
      </p:sp>
      <p:sp>
        <p:nvSpPr>
          <p:cNvPr id="77" name="Freeform 77"/>
          <p:cNvSpPr/>
          <p:nvPr/>
        </p:nvSpPr>
        <p:spPr>
          <a:xfrm>
            <a:off x="13351050" y="4243626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8" name="Freeform 78"/>
          <p:cNvSpPr/>
          <p:nvPr/>
        </p:nvSpPr>
        <p:spPr>
          <a:xfrm>
            <a:off x="13589603" y="4427315"/>
            <a:ext cx="691705" cy="691705"/>
          </a:xfrm>
          <a:custGeom>
            <a:avLst/>
            <a:gdLst/>
            <a:ahLst/>
            <a:cxnLst/>
            <a:rect l="l" t="t" r="r" b="b"/>
            <a:pathLst>
              <a:path w="691705" h="691705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9" name="Group 79"/>
          <p:cNvGrpSpPr/>
          <p:nvPr/>
        </p:nvGrpSpPr>
        <p:grpSpPr>
          <a:xfrm>
            <a:off x="13606272" y="4443984"/>
            <a:ext cx="658368" cy="658368"/>
            <a:chOff x="0" y="0"/>
            <a:chExt cx="877824" cy="87782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13606272" y="4408265"/>
            <a:ext cx="658368" cy="694087"/>
            <a:chOff x="0" y="0"/>
            <a:chExt cx="877824" cy="925449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≡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3615416" y="5181600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Exit Receipt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3615416" y="5675376"/>
            <a:ext cx="33558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After the car exits, the UI shows the driver a receipt for the visit.</a:t>
            </a:r>
          </a:p>
        </p:txBody>
      </p:sp>
      <p:sp>
        <p:nvSpPr>
          <p:cNvPr id="86" name="Freeform 86"/>
          <p:cNvSpPr/>
          <p:nvPr/>
        </p:nvSpPr>
        <p:spPr>
          <a:xfrm>
            <a:off x="3064050" y="6931962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87"/>
          <p:cNvSpPr/>
          <p:nvPr/>
        </p:nvSpPr>
        <p:spPr>
          <a:xfrm>
            <a:off x="3302603" y="7115651"/>
            <a:ext cx="691706" cy="691706"/>
          </a:xfrm>
          <a:custGeom>
            <a:avLst/>
            <a:gdLst/>
            <a:ahLst/>
            <a:cxnLst/>
            <a:rect l="l" t="t" r="r" b="b"/>
            <a:pathLst>
              <a:path w="691706" h="691706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8" name="Group 88"/>
          <p:cNvGrpSpPr/>
          <p:nvPr/>
        </p:nvGrpSpPr>
        <p:grpSpPr>
          <a:xfrm>
            <a:off x="3319272" y="7132320"/>
            <a:ext cx="658368" cy="658368"/>
            <a:chOff x="0" y="0"/>
            <a:chExt cx="877824" cy="877824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90" name="Group 90"/>
          <p:cNvGrpSpPr/>
          <p:nvPr/>
        </p:nvGrpSpPr>
        <p:grpSpPr>
          <a:xfrm>
            <a:off x="3319272" y="7096601"/>
            <a:ext cx="658368" cy="694087"/>
            <a:chOff x="0" y="0"/>
            <a:chExt cx="877824" cy="92544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⊡</a:t>
              </a:r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3328416" y="7869936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 Panel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328416" y="8363712"/>
            <a:ext cx="3355848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A dedicated admin view shows live occupancy, gate status, and system logs in real time.</a:t>
            </a:r>
          </a:p>
        </p:txBody>
      </p:sp>
      <p:sp>
        <p:nvSpPr>
          <p:cNvPr id="95" name="Freeform 95"/>
          <p:cNvSpPr/>
          <p:nvPr/>
        </p:nvSpPr>
        <p:spPr>
          <a:xfrm>
            <a:off x="7178850" y="6931962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6" name="Freeform 96"/>
          <p:cNvSpPr/>
          <p:nvPr/>
        </p:nvSpPr>
        <p:spPr>
          <a:xfrm>
            <a:off x="7417403" y="7115651"/>
            <a:ext cx="691706" cy="691706"/>
          </a:xfrm>
          <a:custGeom>
            <a:avLst/>
            <a:gdLst/>
            <a:ahLst/>
            <a:cxnLst/>
            <a:rect l="l" t="t" r="r" b="b"/>
            <a:pathLst>
              <a:path w="691706" h="691706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7" name="Group 97"/>
          <p:cNvGrpSpPr/>
          <p:nvPr/>
        </p:nvGrpSpPr>
        <p:grpSpPr>
          <a:xfrm>
            <a:off x="7434072" y="7132320"/>
            <a:ext cx="658368" cy="658368"/>
            <a:chOff x="0" y="0"/>
            <a:chExt cx="877824" cy="877824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99" name="Group 99"/>
          <p:cNvGrpSpPr/>
          <p:nvPr/>
        </p:nvGrpSpPr>
        <p:grpSpPr>
          <a:xfrm>
            <a:off x="7434072" y="7096601"/>
            <a:ext cx="658368" cy="694087"/>
            <a:chOff x="0" y="0"/>
            <a:chExt cx="877824" cy="925449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7443216" y="7869936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 Card Access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443216" y="8363712"/>
            <a:ext cx="3355848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The admin holds an RFID card that grants override control to open or close any gate instantly.</a:t>
            </a:r>
          </a:p>
        </p:txBody>
      </p:sp>
      <p:sp>
        <p:nvSpPr>
          <p:cNvPr id="104" name="Freeform 104"/>
          <p:cNvSpPr/>
          <p:nvPr/>
        </p:nvSpPr>
        <p:spPr>
          <a:xfrm>
            <a:off x="11293650" y="6931962"/>
            <a:ext cx="3884581" cy="2485549"/>
          </a:xfrm>
          <a:custGeom>
            <a:avLst/>
            <a:gdLst/>
            <a:ahLst/>
            <a:cxnLst/>
            <a:rect l="l" t="t" r="r" b="b"/>
            <a:pathLst>
              <a:path w="3884581" h="2485549">
                <a:moveTo>
                  <a:pt x="0" y="0"/>
                </a:moveTo>
                <a:lnTo>
                  <a:pt x="3884580" y="0"/>
                </a:lnTo>
                <a:lnTo>
                  <a:pt x="3884580" y="2485548"/>
                </a:lnTo>
                <a:lnTo>
                  <a:pt x="0" y="2485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5" name="Freeform 105"/>
          <p:cNvSpPr/>
          <p:nvPr/>
        </p:nvSpPr>
        <p:spPr>
          <a:xfrm>
            <a:off x="11532203" y="7115651"/>
            <a:ext cx="691706" cy="691706"/>
          </a:xfrm>
          <a:custGeom>
            <a:avLst/>
            <a:gdLst/>
            <a:ahLst/>
            <a:cxnLst/>
            <a:rect l="l" t="t" r="r" b="b"/>
            <a:pathLst>
              <a:path w="691706" h="691706">
                <a:moveTo>
                  <a:pt x="0" y="0"/>
                </a:moveTo>
                <a:lnTo>
                  <a:pt x="691706" y="0"/>
                </a:lnTo>
                <a:lnTo>
                  <a:pt x="691706" y="691706"/>
                </a:lnTo>
                <a:lnTo>
                  <a:pt x="0" y="691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6" name="Group 106"/>
          <p:cNvGrpSpPr/>
          <p:nvPr/>
        </p:nvGrpSpPr>
        <p:grpSpPr>
          <a:xfrm>
            <a:off x="11548872" y="7132320"/>
            <a:ext cx="658368" cy="658368"/>
            <a:chOff x="0" y="0"/>
            <a:chExt cx="877824" cy="87782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</p:spPr>
        </p:sp>
      </p:grpSp>
      <p:grpSp>
        <p:nvGrpSpPr>
          <p:cNvPr id="108" name="Group 108"/>
          <p:cNvGrpSpPr/>
          <p:nvPr/>
        </p:nvGrpSpPr>
        <p:grpSpPr>
          <a:xfrm>
            <a:off x="11548872" y="7096601"/>
            <a:ext cx="658368" cy="694087"/>
            <a:chOff x="0" y="0"/>
            <a:chExt cx="877824" cy="925449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877824" cy="925449"/>
            </a:xfrm>
            <a:custGeom>
              <a:avLst/>
              <a:gdLst/>
              <a:ahLst/>
              <a:cxnLst/>
              <a:rect l="l" t="t" r="r" b="b"/>
              <a:pathLst>
                <a:path w="877824" h="925449">
                  <a:moveTo>
                    <a:pt x="0" y="0"/>
                  </a:moveTo>
                  <a:lnTo>
                    <a:pt x="877824" y="0"/>
                  </a:lnTo>
                  <a:lnTo>
                    <a:pt x="877824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264" r="-85264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47625"/>
              <a:ext cx="877824" cy="973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◈</a:t>
              </a:r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11558016" y="7869936"/>
            <a:ext cx="335584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VIP Card Access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558016" y="8363712"/>
            <a:ext cx="3355848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555C6B"/>
                </a:solidFill>
                <a:latin typeface="Calibri (MS)"/>
                <a:ea typeface="Calibri (MS)"/>
                <a:cs typeface="Calibri (MS)"/>
                <a:sym typeface="Calibri (MS)"/>
              </a:rPr>
              <a:t>VIP card holders are always directed to a reserved slot, even when the lot is full, with no fees charged.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5087600" cy="411480"/>
            <a:chOff x="0" y="0"/>
            <a:chExt cx="201168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16800" cy="548640"/>
            </a:xfrm>
            <a:custGeom>
              <a:avLst/>
              <a:gdLst/>
              <a:ahLst/>
              <a:cxnLst/>
              <a:rect l="l" t="t" r="r" b="b"/>
              <a:pathLst>
                <a:path w="20116800" h="54864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3953" b="-66395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0120" y="671512"/>
            <a:ext cx="15087600" cy="425768"/>
            <a:chOff x="0" y="0"/>
            <a:chExt cx="20116800" cy="5676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567690"/>
            </a:xfrm>
            <a:custGeom>
              <a:avLst/>
              <a:gdLst/>
              <a:ahLst/>
              <a:cxnLst/>
              <a:rect l="l" t="t" r="r" b="b"/>
              <a:pathLst>
                <a:path w="20116800" h="567690">
                  <a:moveTo>
                    <a:pt x="0" y="0"/>
                  </a:moveTo>
                  <a:lnTo>
                    <a:pt x="20116800" y="0"/>
                  </a:lnTo>
                  <a:lnTo>
                    <a:pt x="2011680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76" b="-64047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0116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0E7C7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06  ·  UNDER THE HOOD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1069848"/>
            <a:ext cx="16733520" cy="960120"/>
            <a:chOff x="0" y="0"/>
            <a:chExt cx="2231136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11361" cy="1280160"/>
            </a:xfrm>
            <a:custGeom>
              <a:avLst/>
              <a:gdLst/>
              <a:ahLst/>
              <a:cxnLst/>
              <a:rect l="l" t="t" r="r" b="b"/>
              <a:pathLst>
                <a:path w="22311361" h="1280160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9360" b="-28936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60120" y="1062704"/>
            <a:ext cx="16733520" cy="967264"/>
            <a:chOff x="0" y="0"/>
            <a:chExt cx="22311360" cy="1289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1361" cy="1289685"/>
            </a:xfrm>
            <a:custGeom>
              <a:avLst/>
              <a:gdLst/>
              <a:ahLst/>
              <a:cxnLst/>
              <a:rect l="l" t="t" r="r" b="b"/>
              <a:pathLst>
                <a:path w="22311361" h="1289685">
                  <a:moveTo>
                    <a:pt x="0" y="0"/>
                  </a:moveTo>
                  <a:lnTo>
                    <a:pt x="22311361" y="0"/>
                  </a:lnTo>
                  <a:lnTo>
                    <a:pt x="22311361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088" b="-28708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31136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3283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Technical Specifications</a:t>
              </a: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960120" y="2331720"/>
          <a:ext cx="9563100" cy="7123430"/>
        </p:xfrm>
        <a:graphic>
          <a:graphicData uri="http://schemas.openxmlformats.org/drawingml/2006/table">
            <a:tbl>
              <a:tblPr/>
              <a:tblGrid>
                <a:gridCol w="316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9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Component 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Details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Main Controller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STM32 Blackpill running FreeRTOS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Wireless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ESP-01 Wi-Fi module over UART 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Slot Sensors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IR sensors one per monitored space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Access Control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Dual RC522 RFID readers on a shared SPI bus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Gate System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Ultrasonic sensors + entry/exit servo motors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Flame sensor + active buzzer (auto gate open)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Display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I2C LCD (PB6/PB7) for slot assignment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Web Layer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HTML/CSS/JS dashboard served via ESP-01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Indicators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IR sensors &amp; buzzers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7585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Saving Logs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283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MongoDB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1041380" y="2537460"/>
            <a:ext cx="3086100" cy="3017520"/>
            <a:chOff x="0" y="0"/>
            <a:chExt cx="4114800" cy="4023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14800" cy="4023360"/>
            </a:xfrm>
            <a:custGeom>
              <a:avLst/>
              <a:gdLst/>
              <a:ahLst/>
              <a:cxnLst/>
              <a:rect l="l" t="t" r="r" b="b"/>
              <a:pathLst>
                <a:path w="4114800" h="4023360">
                  <a:moveTo>
                    <a:pt x="0" y="0"/>
                  </a:moveTo>
                  <a:lnTo>
                    <a:pt x="4114800" y="0"/>
                  </a:lnTo>
                  <a:lnTo>
                    <a:pt x="41148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370564" y="2894076"/>
            <a:ext cx="713232" cy="713232"/>
            <a:chOff x="0" y="0"/>
            <a:chExt cx="950976" cy="950976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1315700" y="3744468"/>
            <a:ext cx="2606040" cy="822960"/>
            <a:chOff x="0" y="0"/>
            <a:chExt cx="3474720" cy="1097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1315700" y="3730181"/>
            <a:ext cx="2606040" cy="837248"/>
            <a:chOff x="0" y="0"/>
            <a:chExt cx="3474720" cy="11163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STM32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315700" y="4622292"/>
            <a:ext cx="2674620" cy="548640"/>
            <a:chOff x="0" y="0"/>
            <a:chExt cx="356616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923" b="-44923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1315700" y="4593717"/>
            <a:ext cx="2674620" cy="577215"/>
            <a:chOff x="0" y="0"/>
            <a:chExt cx="3566160" cy="7696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66160" cy="769620"/>
            </a:xfrm>
            <a:custGeom>
              <a:avLst/>
              <a:gdLst/>
              <a:ahLst/>
              <a:cxnLst/>
              <a:rect l="l" t="t" r="r" b="b"/>
              <a:pathLst>
                <a:path w="3566160" h="769620">
                  <a:moveTo>
                    <a:pt x="0" y="0"/>
                  </a:moveTo>
                  <a:lnTo>
                    <a:pt x="3566160" y="0"/>
                  </a:lnTo>
                  <a:lnTo>
                    <a:pt x="3566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87" b="-4028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56616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6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Blackpill core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401800" y="2537460"/>
            <a:ext cx="3086100" cy="3017520"/>
            <a:chOff x="0" y="0"/>
            <a:chExt cx="4114800" cy="40233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14800" cy="4023360"/>
            </a:xfrm>
            <a:custGeom>
              <a:avLst/>
              <a:gdLst/>
              <a:ahLst/>
              <a:cxnLst/>
              <a:rect l="l" t="t" r="r" b="b"/>
              <a:pathLst>
                <a:path w="4114800" h="4023360">
                  <a:moveTo>
                    <a:pt x="0" y="0"/>
                  </a:moveTo>
                  <a:lnTo>
                    <a:pt x="4114800" y="0"/>
                  </a:lnTo>
                  <a:lnTo>
                    <a:pt x="41148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4730984" y="2894076"/>
            <a:ext cx="713232" cy="713232"/>
            <a:chOff x="0" y="0"/>
            <a:chExt cx="950976" cy="950976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676120" y="3744468"/>
            <a:ext cx="2606040" cy="822960"/>
            <a:chOff x="0" y="0"/>
            <a:chExt cx="3474720" cy="10972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4676120" y="3730181"/>
            <a:ext cx="2606040" cy="837248"/>
            <a:chOff x="0" y="0"/>
            <a:chExt cx="3474720" cy="111633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ESP-01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676120" y="4622292"/>
            <a:ext cx="2674620" cy="548640"/>
            <a:chOff x="0" y="0"/>
            <a:chExt cx="356616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923" b="-44923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4676120" y="4593717"/>
            <a:ext cx="2674620" cy="577215"/>
            <a:chOff x="0" y="0"/>
            <a:chExt cx="3566160" cy="7696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566160" cy="769620"/>
            </a:xfrm>
            <a:custGeom>
              <a:avLst/>
              <a:gdLst/>
              <a:ahLst/>
              <a:cxnLst/>
              <a:rect l="l" t="t" r="r" b="b"/>
              <a:pathLst>
                <a:path w="3566160" h="769620">
                  <a:moveTo>
                    <a:pt x="0" y="0"/>
                  </a:moveTo>
                  <a:lnTo>
                    <a:pt x="3566160" y="0"/>
                  </a:lnTo>
                  <a:lnTo>
                    <a:pt x="3566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87" b="-40287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56616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6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Wi-Fi bridge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041380" y="5897880"/>
            <a:ext cx="3086100" cy="3017520"/>
            <a:chOff x="0" y="0"/>
            <a:chExt cx="4114800" cy="40233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114800" cy="4023360"/>
            </a:xfrm>
            <a:custGeom>
              <a:avLst/>
              <a:gdLst/>
              <a:ahLst/>
              <a:cxnLst/>
              <a:rect l="l" t="t" r="r" b="b"/>
              <a:pathLst>
                <a:path w="4114800" h="4023360">
                  <a:moveTo>
                    <a:pt x="0" y="0"/>
                  </a:moveTo>
                  <a:lnTo>
                    <a:pt x="4114800" y="0"/>
                  </a:lnTo>
                  <a:lnTo>
                    <a:pt x="41148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1370564" y="6254496"/>
            <a:ext cx="713232" cy="713232"/>
            <a:chOff x="0" y="0"/>
            <a:chExt cx="950976" cy="950976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1315700" y="7104888"/>
            <a:ext cx="2606040" cy="822960"/>
            <a:chOff x="0" y="0"/>
            <a:chExt cx="3474720" cy="10972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1315700" y="7090600"/>
            <a:ext cx="2606040" cy="837248"/>
            <a:chOff x="0" y="0"/>
            <a:chExt cx="3474720" cy="111633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3.3 / 5 V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315700" y="7982712"/>
            <a:ext cx="2674620" cy="548640"/>
            <a:chOff x="0" y="0"/>
            <a:chExt cx="356616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923" b="-44923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1315700" y="7954137"/>
            <a:ext cx="2674620" cy="577215"/>
            <a:chOff x="0" y="0"/>
            <a:chExt cx="3566160" cy="7696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566160" cy="769620"/>
            </a:xfrm>
            <a:custGeom>
              <a:avLst/>
              <a:gdLst/>
              <a:ahLst/>
              <a:cxnLst/>
              <a:rect l="l" t="t" r="r" b="b"/>
              <a:pathLst>
                <a:path w="3566160" h="769620">
                  <a:moveTo>
                    <a:pt x="0" y="0"/>
                  </a:moveTo>
                  <a:lnTo>
                    <a:pt x="3566160" y="0"/>
                  </a:lnTo>
                  <a:lnTo>
                    <a:pt x="3566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87" b="-40287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356616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6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Dual power rails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401800" y="5897880"/>
            <a:ext cx="3086100" cy="3017520"/>
            <a:chOff x="0" y="0"/>
            <a:chExt cx="4114800" cy="40233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114800" cy="4023360"/>
            </a:xfrm>
            <a:custGeom>
              <a:avLst/>
              <a:gdLst/>
              <a:ahLst/>
              <a:cxnLst/>
              <a:rect l="l" t="t" r="r" b="b"/>
              <a:pathLst>
                <a:path w="4114800" h="4023360">
                  <a:moveTo>
                    <a:pt x="0" y="0"/>
                  </a:moveTo>
                  <a:lnTo>
                    <a:pt x="4114800" y="0"/>
                  </a:lnTo>
                  <a:lnTo>
                    <a:pt x="41148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4730984" y="6254496"/>
            <a:ext cx="713232" cy="713232"/>
            <a:chOff x="0" y="0"/>
            <a:chExt cx="950976" cy="950976"/>
          </a:xfrm>
        </p:grpSpPr>
        <p:sp>
          <p:nvSpPr>
            <p:cNvPr id="58" name="Freeform 58" descr="preencoded.png"/>
            <p:cNvSpPr/>
            <p:nvPr/>
          </p:nvSpPr>
          <p:spPr>
            <a:xfrm>
              <a:off x="0" y="0"/>
              <a:ext cx="950976" cy="950976"/>
            </a:xfrm>
            <a:custGeom>
              <a:avLst/>
              <a:gdLst/>
              <a:ahLst/>
              <a:cxn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14676120" y="7104888"/>
            <a:ext cx="2606040" cy="822960"/>
            <a:chOff x="0" y="0"/>
            <a:chExt cx="3474720" cy="109728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4676120" y="7090600"/>
            <a:ext cx="2606040" cy="837248"/>
            <a:chOff x="0" y="0"/>
            <a:chExt cx="3474720" cy="111633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FreeRTOS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676120" y="7982712"/>
            <a:ext cx="2674620" cy="548640"/>
            <a:chOff x="0" y="0"/>
            <a:chExt cx="3566160" cy="7315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566160" cy="731520"/>
            </a:xfrm>
            <a:custGeom>
              <a:avLst/>
              <a:gdLst/>
              <a:ahLst/>
              <a:cxnLst/>
              <a:rect l="l" t="t" r="r" b="b"/>
              <a:pathLst>
                <a:path w="3566160" h="73152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923" b="-44923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14676120" y="7954137"/>
            <a:ext cx="2674620" cy="577215"/>
            <a:chOff x="0" y="0"/>
            <a:chExt cx="3566160" cy="7696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566160" cy="769620"/>
            </a:xfrm>
            <a:custGeom>
              <a:avLst/>
              <a:gdLst/>
              <a:ahLst/>
              <a:cxnLst/>
              <a:rect l="l" t="t" r="r" b="b"/>
              <a:pathLst>
                <a:path w="3566160" h="769620">
                  <a:moveTo>
                    <a:pt x="0" y="0"/>
                  </a:moveTo>
                  <a:lnTo>
                    <a:pt x="3566160" y="0"/>
                  </a:lnTo>
                  <a:lnTo>
                    <a:pt x="3566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87" b="-40287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356616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FB6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tasks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5087600" cy="411480"/>
            <a:chOff x="0" y="0"/>
            <a:chExt cx="201168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16800" cy="548640"/>
            </a:xfrm>
            <a:custGeom>
              <a:avLst/>
              <a:gdLst/>
              <a:ahLst/>
              <a:cxnLst/>
              <a:rect l="l" t="t" r="r" b="b"/>
              <a:pathLst>
                <a:path w="20116800" h="54864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3953" b="-66395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0120" y="671512"/>
            <a:ext cx="15087600" cy="425768"/>
            <a:chOff x="0" y="0"/>
            <a:chExt cx="20116800" cy="5676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567690"/>
            </a:xfrm>
            <a:custGeom>
              <a:avLst/>
              <a:gdLst/>
              <a:ahLst/>
              <a:cxnLst/>
              <a:rect l="l" t="t" r="r" b="b"/>
              <a:pathLst>
                <a:path w="20116800" h="567690">
                  <a:moveTo>
                    <a:pt x="0" y="0"/>
                  </a:moveTo>
                  <a:lnTo>
                    <a:pt x="20116800" y="0"/>
                  </a:lnTo>
                  <a:lnTo>
                    <a:pt x="2011680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76" b="-64047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0116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2EC4B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07  ·  THE PAYOFF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1069848"/>
            <a:ext cx="16733520" cy="960120"/>
            <a:chOff x="0" y="0"/>
            <a:chExt cx="2231136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11361" cy="1280160"/>
            </a:xfrm>
            <a:custGeom>
              <a:avLst/>
              <a:gdLst/>
              <a:ahLst/>
              <a:cxnLst/>
              <a:rect l="l" t="t" r="r" b="b"/>
              <a:pathLst>
                <a:path w="22311361" h="1280160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9360" b="-28936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60120" y="1062704"/>
            <a:ext cx="16733520" cy="967264"/>
            <a:chOff x="0" y="0"/>
            <a:chExt cx="22311360" cy="1289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1361" cy="1289685"/>
            </a:xfrm>
            <a:custGeom>
              <a:avLst/>
              <a:gdLst/>
              <a:ahLst/>
              <a:cxnLst/>
              <a:rect l="l" t="t" r="r" b="b"/>
              <a:pathLst>
                <a:path w="22311361" h="1289685">
                  <a:moveTo>
                    <a:pt x="0" y="0"/>
                  </a:moveTo>
                  <a:lnTo>
                    <a:pt x="22311361" y="0"/>
                  </a:lnTo>
                  <a:lnTo>
                    <a:pt x="22311361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088" b="-28708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31136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Achievements &amp; Results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120" y="2674620"/>
            <a:ext cx="5280660" cy="3017520"/>
            <a:chOff x="0" y="0"/>
            <a:chExt cx="7040880" cy="4023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40880" cy="4023360"/>
            </a:xfrm>
            <a:custGeom>
              <a:avLst/>
              <a:gdLst/>
              <a:ahLst/>
              <a:cxnLst/>
              <a:rect l="l" t="t" r="r" b="b"/>
              <a:pathLst>
                <a:path w="7040880" h="4023360">
                  <a:moveTo>
                    <a:pt x="0" y="0"/>
                  </a:moveTo>
                  <a:lnTo>
                    <a:pt x="7040880" y="0"/>
                  </a:lnTo>
                  <a:lnTo>
                    <a:pt x="70408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60120" y="2674620"/>
            <a:ext cx="123444" cy="3017520"/>
            <a:chOff x="0" y="0"/>
            <a:chExt cx="164592" cy="4023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592" cy="4023360"/>
            </a:xfrm>
            <a:custGeom>
              <a:avLst/>
              <a:gdLst/>
              <a:ahLst/>
              <a:cxnLst/>
              <a:rect l="l" t="t" r="r" b="b"/>
              <a:pathLst>
                <a:path w="164592" h="4023360">
                  <a:moveTo>
                    <a:pt x="0" y="0"/>
                  </a:moveTo>
                  <a:lnTo>
                    <a:pt x="164592" y="0"/>
                  </a:lnTo>
                  <a:lnTo>
                    <a:pt x="164592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21C063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371600" y="3086100"/>
            <a:ext cx="754380" cy="754380"/>
            <a:chOff x="0" y="0"/>
            <a:chExt cx="1005840" cy="100584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71600" y="3977640"/>
            <a:ext cx="4526280" cy="548640"/>
            <a:chOff x="0" y="0"/>
            <a:chExt cx="603504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640" b="-11063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71600" y="3970496"/>
            <a:ext cx="4526280" cy="555784"/>
            <a:chOff x="0" y="0"/>
            <a:chExt cx="6035040" cy="74104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35040" cy="741045"/>
            </a:xfrm>
            <a:custGeom>
              <a:avLst/>
              <a:gdLst/>
              <a:ahLst/>
              <a:cxnLst/>
              <a:rect l="l" t="t" r="r" b="b"/>
              <a:pathLst>
                <a:path w="6035040" h="741045">
                  <a:moveTo>
                    <a:pt x="0" y="0"/>
                  </a:moveTo>
                  <a:lnTo>
                    <a:pt x="6035040" y="0"/>
                  </a:lnTo>
                  <a:lnTo>
                    <a:pt x="60350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685" b="-10868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0350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Reliable Detection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71600" y="4567428"/>
            <a:ext cx="4594860" cy="960120"/>
            <a:chOff x="0" y="0"/>
            <a:chExt cx="6126480" cy="12801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126480" cy="1280160"/>
            </a:xfrm>
            <a:custGeom>
              <a:avLst/>
              <a:gdLst/>
              <a:ahLst/>
              <a:cxnLst/>
              <a:rect l="l" t="t" r="r" b="b"/>
              <a:pathLst>
                <a:path w="6126480" h="1280160">
                  <a:moveTo>
                    <a:pt x="0" y="0"/>
                  </a:moveTo>
                  <a:lnTo>
                    <a:pt x="6126480" y="0"/>
                  </a:lnTo>
                  <a:lnTo>
                    <a:pt x="6126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184" b="-43185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371600" y="4531709"/>
            <a:ext cx="4594860" cy="995839"/>
            <a:chOff x="0" y="0"/>
            <a:chExt cx="6126480" cy="132778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126480" cy="1327785"/>
            </a:xfrm>
            <a:custGeom>
              <a:avLst/>
              <a:gdLst/>
              <a:ahLst/>
              <a:cxnLst/>
              <a:rect l="l" t="t" r="r" b="b"/>
              <a:pathLst>
                <a:path w="6126480" h="1327785">
                  <a:moveTo>
                    <a:pt x="0" y="0"/>
                  </a:moveTo>
                  <a:lnTo>
                    <a:pt x="6126480" y="0"/>
                  </a:lnTo>
                  <a:lnTo>
                    <a:pt x="6126480" y="1327785"/>
                  </a:lnTo>
                  <a:lnTo>
                    <a:pt x="0" y="13277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905" b="-3990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6126480" cy="1375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B8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Slot status is reported accurately and consistently across the model.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42532" y="2674620"/>
            <a:ext cx="5280660" cy="3017520"/>
            <a:chOff x="0" y="0"/>
            <a:chExt cx="7040880" cy="40233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40880" cy="4023360"/>
            </a:xfrm>
            <a:custGeom>
              <a:avLst/>
              <a:gdLst/>
              <a:ahLst/>
              <a:cxnLst/>
              <a:rect l="l" t="t" r="r" b="b"/>
              <a:pathLst>
                <a:path w="7040880" h="4023360">
                  <a:moveTo>
                    <a:pt x="0" y="0"/>
                  </a:moveTo>
                  <a:lnTo>
                    <a:pt x="7040880" y="0"/>
                  </a:lnTo>
                  <a:lnTo>
                    <a:pt x="70408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542532" y="2674620"/>
            <a:ext cx="123444" cy="3017520"/>
            <a:chOff x="0" y="0"/>
            <a:chExt cx="164592" cy="40233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4592" cy="4023360"/>
            </a:xfrm>
            <a:custGeom>
              <a:avLst/>
              <a:gdLst/>
              <a:ahLst/>
              <a:cxnLst/>
              <a:rect l="l" t="t" r="r" b="b"/>
              <a:pathLst>
                <a:path w="164592" h="4023360">
                  <a:moveTo>
                    <a:pt x="0" y="0"/>
                  </a:moveTo>
                  <a:lnTo>
                    <a:pt x="164592" y="0"/>
                  </a:lnTo>
                  <a:lnTo>
                    <a:pt x="164592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21C06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954012" y="3086100"/>
            <a:ext cx="754380" cy="754380"/>
            <a:chOff x="0" y="0"/>
            <a:chExt cx="1005840" cy="1005840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6954012" y="3977640"/>
            <a:ext cx="4526280" cy="548640"/>
            <a:chOff x="0" y="0"/>
            <a:chExt cx="603504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640" b="-110638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6954012" y="3970496"/>
            <a:ext cx="4526280" cy="555784"/>
            <a:chOff x="0" y="0"/>
            <a:chExt cx="6035040" cy="7410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035040" cy="741045"/>
            </a:xfrm>
            <a:custGeom>
              <a:avLst/>
              <a:gdLst/>
              <a:ahLst/>
              <a:cxnLst/>
              <a:rect l="l" t="t" r="r" b="b"/>
              <a:pathLst>
                <a:path w="6035040" h="741045">
                  <a:moveTo>
                    <a:pt x="0" y="0"/>
                  </a:moveTo>
                  <a:lnTo>
                    <a:pt x="6035040" y="0"/>
                  </a:lnTo>
                  <a:lnTo>
                    <a:pt x="60350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685" b="-10868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60350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Secure Access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954012" y="4567428"/>
            <a:ext cx="4594860" cy="960120"/>
            <a:chOff x="0" y="0"/>
            <a:chExt cx="6126480" cy="12801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126480" cy="1280160"/>
            </a:xfrm>
            <a:custGeom>
              <a:avLst/>
              <a:gdLst/>
              <a:ahLst/>
              <a:cxnLst/>
              <a:rect l="l" t="t" r="r" b="b"/>
              <a:pathLst>
                <a:path w="6126480" h="1280160">
                  <a:moveTo>
                    <a:pt x="0" y="0"/>
                  </a:moveTo>
                  <a:lnTo>
                    <a:pt x="6126480" y="0"/>
                  </a:lnTo>
                  <a:lnTo>
                    <a:pt x="6126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184" b="-43185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6954012" y="4531709"/>
            <a:ext cx="4594860" cy="995839"/>
            <a:chOff x="0" y="0"/>
            <a:chExt cx="6126480" cy="132778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126480" cy="1327785"/>
            </a:xfrm>
            <a:custGeom>
              <a:avLst/>
              <a:gdLst/>
              <a:ahLst/>
              <a:cxnLst/>
              <a:rect l="l" t="t" r="r" b="b"/>
              <a:pathLst>
                <a:path w="6126480" h="1327785">
                  <a:moveTo>
                    <a:pt x="0" y="0"/>
                  </a:moveTo>
                  <a:lnTo>
                    <a:pt x="6126480" y="0"/>
                  </a:lnTo>
                  <a:lnTo>
                    <a:pt x="6126480" y="1327785"/>
                  </a:lnTo>
                  <a:lnTo>
                    <a:pt x="0" y="13277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905" b="-3990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6126480" cy="1375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B8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RFID authentication admits only registered cards at both gates.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124944" y="2674620"/>
            <a:ext cx="5280660" cy="3017520"/>
            <a:chOff x="0" y="0"/>
            <a:chExt cx="7040880" cy="4023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040880" cy="4023360"/>
            </a:xfrm>
            <a:custGeom>
              <a:avLst/>
              <a:gdLst/>
              <a:ahLst/>
              <a:cxnLst/>
              <a:rect l="l" t="t" r="r" b="b"/>
              <a:pathLst>
                <a:path w="7040880" h="4023360">
                  <a:moveTo>
                    <a:pt x="0" y="0"/>
                  </a:moveTo>
                  <a:lnTo>
                    <a:pt x="7040880" y="0"/>
                  </a:lnTo>
                  <a:lnTo>
                    <a:pt x="70408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2124944" y="2674620"/>
            <a:ext cx="123444" cy="3017520"/>
            <a:chOff x="0" y="0"/>
            <a:chExt cx="164592" cy="40233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64592" cy="4023360"/>
            </a:xfrm>
            <a:custGeom>
              <a:avLst/>
              <a:gdLst/>
              <a:ahLst/>
              <a:cxnLst/>
              <a:rect l="l" t="t" r="r" b="b"/>
              <a:pathLst>
                <a:path w="164592" h="4023360">
                  <a:moveTo>
                    <a:pt x="0" y="0"/>
                  </a:moveTo>
                  <a:lnTo>
                    <a:pt x="164592" y="0"/>
                  </a:lnTo>
                  <a:lnTo>
                    <a:pt x="164592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E8584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2536424" y="3086100"/>
            <a:ext cx="754380" cy="754380"/>
            <a:chOff x="0" y="0"/>
            <a:chExt cx="1005840" cy="1005840"/>
          </a:xfrm>
        </p:grpSpPr>
        <p:sp>
          <p:nvSpPr>
            <p:cNvPr id="49" name="Freeform 49" descr="preencoded.png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12536424" y="3977640"/>
            <a:ext cx="4526280" cy="548640"/>
            <a:chOff x="0" y="0"/>
            <a:chExt cx="603504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640" b="-110638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2536424" y="3970496"/>
            <a:ext cx="4526280" cy="555784"/>
            <a:chOff x="0" y="0"/>
            <a:chExt cx="6035040" cy="74104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035040" cy="741045"/>
            </a:xfrm>
            <a:custGeom>
              <a:avLst/>
              <a:gdLst/>
              <a:ahLst/>
              <a:cxnLst/>
              <a:rect l="l" t="t" r="r" b="b"/>
              <a:pathLst>
                <a:path w="6035040" h="741045">
                  <a:moveTo>
                    <a:pt x="0" y="0"/>
                  </a:moveTo>
                  <a:lnTo>
                    <a:pt x="6035040" y="0"/>
                  </a:lnTo>
                  <a:lnTo>
                    <a:pt x="60350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685" b="-10868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60350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Emergency-Safe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536424" y="4567428"/>
            <a:ext cx="4594860" cy="960120"/>
            <a:chOff x="0" y="0"/>
            <a:chExt cx="6126480" cy="12801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126480" cy="1280160"/>
            </a:xfrm>
            <a:custGeom>
              <a:avLst/>
              <a:gdLst/>
              <a:ahLst/>
              <a:cxnLst/>
              <a:rect l="l" t="t" r="r" b="b"/>
              <a:pathLst>
                <a:path w="6126480" h="1280160">
                  <a:moveTo>
                    <a:pt x="0" y="0"/>
                  </a:moveTo>
                  <a:lnTo>
                    <a:pt x="6126480" y="0"/>
                  </a:lnTo>
                  <a:lnTo>
                    <a:pt x="6126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184" b="-43185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2536424" y="4531709"/>
            <a:ext cx="4594860" cy="995839"/>
            <a:chOff x="0" y="0"/>
            <a:chExt cx="6126480" cy="132778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126480" cy="1327785"/>
            </a:xfrm>
            <a:custGeom>
              <a:avLst/>
              <a:gdLst/>
              <a:ahLst/>
              <a:cxnLst/>
              <a:rect l="l" t="t" r="r" b="b"/>
              <a:pathLst>
                <a:path w="6126480" h="1327785">
                  <a:moveTo>
                    <a:pt x="0" y="0"/>
                  </a:moveTo>
                  <a:lnTo>
                    <a:pt x="6126480" y="0"/>
                  </a:lnTo>
                  <a:lnTo>
                    <a:pt x="6126480" y="1327785"/>
                  </a:lnTo>
                  <a:lnTo>
                    <a:pt x="0" y="13277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905" b="-3990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6126480" cy="1375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B8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Flame detection auto-opens the gates and sounds the buzzer with zero latency.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0120" y="6035040"/>
            <a:ext cx="5280660" cy="3017520"/>
            <a:chOff x="0" y="0"/>
            <a:chExt cx="7040880" cy="40233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040880" cy="4023360"/>
            </a:xfrm>
            <a:custGeom>
              <a:avLst/>
              <a:gdLst/>
              <a:ahLst/>
              <a:cxnLst/>
              <a:rect l="l" t="t" r="r" b="b"/>
              <a:pathLst>
                <a:path w="7040880" h="4023360">
                  <a:moveTo>
                    <a:pt x="0" y="0"/>
                  </a:moveTo>
                  <a:lnTo>
                    <a:pt x="7040880" y="0"/>
                  </a:lnTo>
                  <a:lnTo>
                    <a:pt x="70408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960120" y="6035040"/>
            <a:ext cx="123444" cy="3017520"/>
            <a:chOff x="0" y="0"/>
            <a:chExt cx="164592" cy="40233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64592" cy="4023360"/>
            </a:xfrm>
            <a:custGeom>
              <a:avLst/>
              <a:gdLst/>
              <a:ahLst/>
              <a:cxnLst/>
              <a:rect l="l" t="t" r="r" b="b"/>
              <a:pathLst>
                <a:path w="164592" h="4023360">
                  <a:moveTo>
                    <a:pt x="0" y="0"/>
                  </a:moveTo>
                  <a:lnTo>
                    <a:pt x="164592" y="0"/>
                  </a:lnTo>
                  <a:lnTo>
                    <a:pt x="164592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21C063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371600" y="6446520"/>
            <a:ext cx="754380" cy="754380"/>
            <a:chOff x="0" y="0"/>
            <a:chExt cx="1005840" cy="1005840"/>
          </a:xfrm>
        </p:grpSpPr>
        <p:sp>
          <p:nvSpPr>
            <p:cNvPr id="65" name="Freeform 65" descr="preencoded.png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1371600" y="7338060"/>
            <a:ext cx="4526280" cy="548640"/>
            <a:chOff x="0" y="0"/>
            <a:chExt cx="6035040" cy="731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640" b="-110638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1371600" y="7330916"/>
            <a:ext cx="4526280" cy="555784"/>
            <a:chOff x="0" y="0"/>
            <a:chExt cx="6035040" cy="74104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035040" cy="741045"/>
            </a:xfrm>
            <a:custGeom>
              <a:avLst/>
              <a:gdLst/>
              <a:ahLst/>
              <a:cxnLst/>
              <a:rect l="l" t="t" r="r" b="b"/>
              <a:pathLst>
                <a:path w="6035040" h="741045">
                  <a:moveTo>
                    <a:pt x="0" y="0"/>
                  </a:moveTo>
                  <a:lnTo>
                    <a:pt x="6035040" y="0"/>
                  </a:lnTo>
                  <a:lnTo>
                    <a:pt x="60350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685" b="-108685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60350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Hands-Free Flow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71600" y="7927848"/>
            <a:ext cx="4594860" cy="960120"/>
            <a:chOff x="0" y="0"/>
            <a:chExt cx="6126480" cy="12801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126480" cy="1280160"/>
            </a:xfrm>
            <a:custGeom>
              <a:avLst/>
              <a:gdLst/>
              <a:ahLst/>
              <a:cxnLst/>
              <a:rect l="l" t="t" r="r" b="b"/>
              <a:pathLst>
                <a:path w="6126480" h="1280160">
                  <a:moveTo>
                    <a:pt x="0" y="0"/>
                  </a:moveTo>
                  <a:lnTo>
                    <a:pt x="6126480" y="0"/>
                  </a:lnTo>
                  <a:lnTo>
                    <a:pt x="6126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184" b="-43185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1371600" y="7892129"/>
            <a:ext cx="4594860" cy="995839"/>
            <a:chOff x="0" y="0"/>
            <a:chExt cx="6126480" cy="132778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126480" cy="1327785"/>
            </a:xfrm>
            <a:custGeom>
              <a:avLst/>
              <a:gdLst/>
              <a:ahLst/>
              <a:cxnLst/>
              <a:rect l="l" t="t" r="r" b="b"/>
              <a:pathLst>
                <a:path w="6126480" h="1327785">
                  <a:moveTo>
                    <a:pt x="0" y="0"/>
                  </a:moveTo>
                  <a:lnTo>
                    <a:pt x="6126480" y="0"/>
                  </a:lnTo>
                  <a:lnTo>
                    <a:pt x="6126480" y="1327785"/>
                  </a:lnTo>
                  <a:lnTo>
                    <a:pt x="0" y="13277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905" b="-39905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6126480" cy="1375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B8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Cars are detected, assigned a slot and admitted without an operator.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542532" y="6035040"/>
            <a:ext cx="5280660" cy="3017520"/>
            <a:chOff x="0" y="0"/>
            <a:chExt cx="7040880" cy="402336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040880" cy="4023360"/>
            </a:xfrm>
            <a:custGeom>
              <a:avLst/>
              <a:gdLst/>
              <a:ahLst/>
              <a:cxnLst/>
              <a:rect l="l" t="t" r="r" b="b"/>
              <a:pathLst>
                <a:path w="7040880" h="4023360">
                  <a:moveTo>
                    <a:pt x="0" y="0"/>
                  </a:moveTo>
                  <a:lnTo>
                    <a:pt x="7040880" y="0"/>
                  </a:lnTo>
                  <a:lnTo>
                    <a:pt x="70408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6542532" y="6035040"/>
            <a:ext cx="123444" cy="3017520"/>
            <a:chOff x="0" y="0"/>
            <a:chExt cx="164592" cy="402336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64592" cy="4023360"/>
            </a:xfrm>
            <a:custGeom>
              <a:avLst/>
              <a:gdLst/>
              <a:ahLst/>
              <a:cxnLst/>
              <a:rect l="l" t="t" r="r" b="b"/>
              <a:pathLst>
                <a:path w="164592" h="4023360">
                  <a:moveTo>
                    <a:pt x="0" y="0"/>
                  </a:moveTo>
                  <a:lnTo>
                    <a:pt x="164592" y="0"/>
                  </a:lnTo>
                  <a:lnTo>
                    <a:pt x="164592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21C063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6954012" y="6446520"/>
            <a:ext cx="754380" cy="754380"/>
            <a:chOff x="0" y="0"/>
            <a:chExt cx="1005840" cy="1005840"/>
          </a:xfrm>
        </p:grpSpPr>
        <p:sp>
          <p:nvSpPr>
            <p:cNvPr id="81" name="Freeform 81" descr="preencoded.png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6954012" y="7338060"/>
            <a:ext cx="4526280" cy="548640"/>
            <a:chOff x="0" y="0"/>
            <a:chExt cx="6035040" cy="7315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640" b="-110638"/>
              </a:stretch>
            </a:blipFill>
          </p:spPr>
        </p:sp>
      </p:grpSp>
      <p:grpSp>
        <p:nvGrpSpPr>
          <p:cNvPr id="84" name="Group 84"/>
          <p:cNvGrpSpPr/>
          <p:nvPr/>
        </p:nvGrpSpPr>
        <p:grpSpPr>
          <a:xfrm>
            <a:off x="6954012" y="7330916"/>
            <a:ext cx="4526280" cy="555784"/>
            <a:chOff x="0" y="0"/>
            <a:chExt cx="6035040" cy="74104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6035040" cy="741045"/>
            </a:xfrm>
            <a:custGeom>
              <a:avLst/>
              <a:gdLst/>
              <a:ahLst/>
              <a:cxnLst/>
              <a:rect l="l" t="t" r="r" b="b"/>
              <a:pathLst>
                <a:path w="6035040" h="741045">
                  <a:moveTo>
                    <a:pt x="0" y="0"/>
                  </a:moveTo>
                  <a:lnTo>
                    <a:pt x="6035040" y="0"/>
                  </a:lnTo>
                  <a:lnTo>
                    <a:pt x="60350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685" b="-108685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9525"/>
              <a:ext cx="60350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Working Maquette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954012" y="7927848"/>
            <a:ext cx="4594860" cy="960120"/>
            <a:chOff x="0" y="0"/>
            <a:chExt cx="6126480" cy="128016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126480" cy="1280160"/>
            </a:xfrm>
            <a:custGeom>
              <a:avLst/>
              <a:gdLst/>
              <a:ahLst/>
              <a:cxnLst/>
              <a:rect l="l" t="t" r="r" b="b"/>
              <a:pathLst>
                <a:path w="6126480" h="1280160">
                  <a:moveTo>
                    <a:pt x="0" y="0"/>
                  </a:moveTo>
                  <a:lnTo>
                    <a:pt x="6126480" y="0"/>
                  </a:lnTo>
                  <a:lnTo>
                    <a:pt x="6126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184" b="-43185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6954012" y="7892129"/>
            <a:ext cx="4594860" cy="995839"/>
            <a:chOff x="0" y="0"/>
            <a:chExt cx="6126480" cy="1327785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126480" cy="1327785"/>
            </a:xfrm>
            <a:custGeom>
              <a:avLst/>
              <a:gdLst/>
              <a:ahLst/>
              <a:cxnLst/>
              <a:rect l="l" t="t" r="r" b="b"/>
              <a:pathLst>
                <a:path w="6126480" h="1327785">
                  <a:moveTo>
                    <a:pt x="0" y="0"/>
                  </a:moveTo>
                  <a:lnTo>
                    <a:pt x="6126480" y="0"/>
                  </a:lnTo>
                  <a:lnTo>
                    <a:pt x="6126480" y="1327785"/>
                  </a:lnTo>
                  <a:lnTo>
                    <a:pt x="0" y="13277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905" b="-39905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6126480" cy="1375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B8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complete scale model integrating every subsystem under FreeRTOS.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124944" y="6035040"/>
            <a:ext cx="5280660" cy="3017520"/>
            <a:chOff x="0" y="0"/>
            <a:chExt cx="7040880" cy="402336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7040880" cy="4023360"/>
            </a:xfrm>
            <a:custGeom>
              <a:avLst/>
              <a:gdLst/>
              <a:ahLst/>
              <a:cxnLst/>
              <a:rect l="l" t="t" r="r" b="b"/>
              <a:pathLst>
                <a:path w="7040880" h="4023360">
                  <a:moveTo>
                    <a:pt x="0" y="0"/>
                  </a:moveTo>
                  <a:lnTo>
                    <a:pt x="7040880" y="0"/>
                  </a:lnTo>
                  <a:lnTo>
                    <a:pt x="70408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12124944" y="6035040"/>
            <a:ext cx="123444" cy="3017520"/>
            <a:chOff x="0" y="0"/>
            <a:chExt cx="164592" cy="402336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64592" cy="4023360"/>
            </a:xfrm>
            <a:custGeom>
              <a:avLst/>
              <a:gdLst/>
              <a:ahLst/>
              <a:cxnLst/>
              <a:rect l="l" t="t" r="r" b="b"/>
              <a:pathLst>
                <a:path w="164592" h="4023360">
                  <a:moveTo>
                    <a:pt x="0" y="0"/>
                  </a:moveTo>
                  <a:lnTo>
                    <a:pt x="164592" y="0"/>
                  </a:lnTo>
                  <a:lnTo>
                    <a:pt x="164592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21C063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2536424" y="6446520"/>
            <a:ext cx="754380" cy="754380"/>
            <a:chOff x="0" y="0"/>
            <a:chExt cx="1005840" cy="1005840"/>
          </a:xfrm>
        </p:grpSpPr>
        <p:sp>
          <p:nvSpPr>
            <p:cNvPr id="97" name="Freeform 97" descr="preencoded.png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98" name="Group 98"/>
          <p:cNvGrpSpPr/>
          <p:nvPr/>
        </p:nvGrpSpPr>
        <p:grpSpPr>
          <a:xfrm>
            <a:off x="12536424" y="7338060"/>
            <a:ext cx="4526280" cy="548640"/>
            <a:chOff x="0" y="0"/>
            <a:chExt cx="6035040" cy="73152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640" b="-110638"/>
              </a:stretch>
            </a:blipFill>
          </p:spPr>
        </p:sp>
      </p:grpSp>
      <p:grpSp>
        <p:nvGrpSpPr>
          <p:cNvPr id="100" name="Group 100"/>
          <p:cNvGrpSpPr/>
          <p:nvPr/>
        </p:nvGrpSpPr>
        <p:grpSpPr>
          <a:xfrm>
            <a:off x="12536424" y="7330916"/>
            <a:ext cx="4526280" cy="555784"/>
            <a:chOff x="0" y="0"/>
            <a:chExt cx="6035040" cy="741045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6035040" cy="741045"/>
            </a:xfrm>
            <a:custGeom>
              <a:avLst/>
              <a:gdLst/>
              <a:ahLst/>
              <a:cxnLst/>
              <a:rect l="l" t="t" r="r" b="b"/>
              <a:pathLst>
                <a:path w="6035040" h="741045">
                  <a:moveTo>
                    <a:pt x="0" y="0"/>
                  </a:moveTo>
                  <a:lnTo>
                    <a:pt x="6035040" y="0"/>
                  </a:lnTo>
                  <a:lnTo>
                    <a:pt x="603504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685" b="-108685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9525"/>
              <a:ext cx="60350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Live Dashboard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2536424" y="7927848"/>
            <a:ext cx="4594860" cy="960120"/>
            <a:chOff x="0" y="0"/>
            <a:chExt cx="6126480" cy="128016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6126480" cy="1280160"/>
            </a:xfrm>
            <a:custGeom>
              <a:avLst/>
              <a:gdLst/>
              <a:ahLst/>
              <a:cxnLst/>
              <a:rect l="l" t="t" r="r" b="b"/>
              <a:pathLst>
                <a:path w="6126480" h="1280160">
                  <a:moveTo>
                    <a:pt x="0" y="0"/>
                  </a:moveTo>
                  <a:lnTo>
                    <a:pt x="6126480" y="0"/>
                  </a:lnTo>
                  <a:lnTo>
                    <a:pt x="6126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184" b="-43185"/>
              </a:stretch>
            </a:blipFill>
          </p:spPr>
        </p:sp>
      </p:grpSp>
      <p:grpSp>
        <p:nvGrpSpPr>
          <p:cNvPr id="105" name="Group 105"/>
          <p:cNvGrpSpPr/>
          <p:nvPr/>
        </p:nvGrpSpPr>
        <p:grpSpPr>
          <a:xfrm>
            <a:off x="12536424" y="7892129"/>
            <a:ext cx="4594860" cy="995839"/>
            <a:chOff x="0" y="0"/>
            <a:chExt cx="6126480" cy="1327785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6126480" cy="1327785"/>
            </a:xfrm>
            <a:custGeom>
              <a:avLst/>
              <a:gdLst/>
              <a:ahLst/>
              <a:cxnLst/>
              <a:rect l="l" t="t" r="r" b="b"/>
              <a:pathLst>
                <a:path w="6126480" h="1327785">
                  <a:moveTo>
                    <a:pt x="0" y="0"/>
                  </a:moveTo>
                  <a:lnTo>
                    <a:pt x="6126480" y="0"/>
                  </a:lnTo>
                  <a:lnTo>
                    <a:pt x="6126480" y="1327785"/>
                  </a:lnTo>
                  <a:lnTo>
                    <a:pt x="0" y="13277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905" b="-39905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47625"/>
              <a:ext cx="6126480" cy="1375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B8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availability and exit receipts reachable from any browser.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9246894" cy="411480"/>
            <a:chOff x="0" y="0"/>
            <a:chExt cx="12329191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29192" cy="548640"/>
            </a:xfrm>
            <a:custGeom>
              <a:avLst/>
              <a:gdLst/>
              <a:ahLst/>
              <a:cxnLst/>
              <a:rect l="l" t="t" r="r" b="b"/>
              <a:pathLst>
                <a:path w="12329192" h="548640">
                  <a:moveTo>
                    <a:pt x="0" y="0"/>
                  </a:moveTo>
                  <a:lnTo>
                    <a:pt x="12329192" y="0"/>
                  </a:lnTo>
                  <a:lnTo>
                    <a:pt x="123291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7568" b="-38756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0120" y="671512"/>
            <a:ext cx="8001438" cy="425767"/>
            <a:chOff x="0" y="0"/>
            <a:chExt cx="10668585" cy="5676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8584" cy="567690"/>
            </a:xfrm>
            <a:custGeom>
              <a:avLst/>
              <a:gdLst/>
              <a:ahLst/>
              <a:cxnLst/>
              <a:rect l="l" t="t" r="r" b="b"/>
              <a:pathLst>
                <a:path w="10668584" h="567690">
                  <a:moveTo>
                    <a:pt x="0" y="0"/>
                  </a:moveTo>
                  <a:lnTo>
                    <a:pt x="10668584" y="0"/>
                  </a:lnTo>
                  <a:lnTo>
                    <a:pt x="10668584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76" r="-88561" b="-64047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668585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2EC4B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09  ·  THE PAPER TRAIL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1069848"/>
            <a:ext cx="9978162" cy="960120"/>
            <a:chOff x="0" y="0"/>
            <a:chExt cx="13304216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304217" cy="1280160"/>
            </a:xfrm>
            <a:custGeom>
              <a:avLst/>
              <a:gdLst/>
              <a:ahLst/>
              <a:cxnLst/>
              <a:rect l="l" t="t" r="r" b="b"/>
              <a:pathLst>
                <a:path w="13304217" h="1280160">
                  <a:moveTo>
                    <a:pt x="0" y="0"/>
                  </a:moveTo>
                  <a:lnTo>
                    <a:pt x="13304217" y="0"/>
                  </a:lnTo>
                  <a:lnTo>
                    <a:pt x="13304217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2359" b="-15235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60120" y="1062704"/>
            <a:ext cx="10287000" cy="967264"/>
            <a:chOff x="0" y="0"/>
            <a:chExt cx="13716000" cy="1289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16000" cy="1289685"/>
            </a:xfrm>
            <a:custGeom>
              <a:avLst/>
              <a:gdLst/>
              <a:ahLst/>
              <a:cxnLst/>
              <a:rect l="l" t="t" r="r" b="b"/>
              <a:pathLst>
                <a:path w="13716000" h="1289685">
                  <a:moveTo>
                    <a:pt x="0" y="0"/>
                  </a:moveTo>
                  <a:lnTo>
                    <a:pt x="13716000" y="0"/>
                  </a:lnTo>
                  <a:lnTo>
                    <a:pt x="1371600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088" r="-62666" b="-28708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160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Documentation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120" y="2331720"/>
            <a:ext cx="10287000" cy="960120"/>
            <a:chOff x="0" y="0"/>
            <a:chExt cx="13716000" cy="1280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16000" cy="1280160"/>
            </a:xfrm>
            <a:custGeom>
              <a:avLst/>
              <a:gdLst/>
              <a:ahLst/>
              <a:cxnLst/>
              <a:rect l="l" t="t" r="r" b="b"/>
              <a:pathLst>
                <a:path w="13716000" h="1280160">
                  <a:moveTo>
                    <a:pt x="0" y="0"/>
                  </a:moveTo>
                  <a:lnTo>
                    <a:pt x="13716000" y="0"/>
                  </a:lnTo>
                  <a:lnTo>
                    <a:pt x="13716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8623" b="-15862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60120" y="2260283"/>
            <a:ext cx="10287000" cy="1031557"/>
            <a:chOff x="0" y="0"/>
            <a:chExt cx="13716000" cy="13754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16000" cy="1375410"/>
            </a:xfrm>
            <a:custGeom>
              <a:avLst/>
              <a:gdLst/>
              <a:ahLst/>
              <a:cxnLst/>
              <a:rect l="l" t="t" r="r" b="b"/>
              <a:pathLst>
                <a:path w="13716000" h="1375410">
                  <a:moveTo>
                    <a:pt x="0" y="0"/>
                  </a:moveTo>
                  <a:lnTo>
                    <a:pt x="13716000" y="0"/>
                  </a:lnTo>
                  <a:lnTo>
                    <a:pt x="13716000" y="1375410"/>
                  </a:lnTo>
                  <a:lnTo>
                    <a:pt x="0" y="13754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310" b="-14431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3716000" cy="1470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C9D8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Everything needed to understand, rebuild and operate the system is documented and bundled with the project.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0120" y="3291840"/>
            <a:ext cx="9435606" cy="1078106"/>
            <a:chOff x="0" y="0"/>
            <a:chExt cx="13716000" cy="15671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16000" cy="1567181"/>
            </a:xfrm>
            <a:custGeom>
              <a:avLst/>
              <a:gdLst/>
              <a:ahLst/>
              <a:cxnLst/>
              <a:rect l="l" t="t" r="r" b="b"/>
              <a:pathLst>
                <a:path w="13716000" h="1567181">
                  <a:moveTo>
                    <a:pt x="0" y="0"/>
                  </a:moveTo>
                  <a:lnTo>
                    <a:pt x="13716000" y="0"/>
                  </a:lnTo>
                  <a:lnTo>
                    <a:pt x="13716000" y="1567181"/>
                  </a:lnTo>
                  <a:lnTo>
                    <a:pt x="0" y="1567181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60120" y="3291840"/>
            <a:ext cx="100646" cy="1078106"/>
            <a:chOff x="0" y="0"/>
            <a:chExt cx="146304" cy="156718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304" cy="1567181"/>
            </a:xfrm>
            <a:custGeom>
              <a:avLst/>
              <a:gdLst/>
              <a:ahLst/>
              <a:cxnLst/>
              <a:rect l="l" t="t" r="r" b="b"/>
              <a:pathLst>
                <a:path w="146304" h="1567181">
                  <a:moveTo>
                    <a:pt x="0" y="0"/>
                  </a:moveTo>
                  <a:lnTo>
                    <a:pt x="146304" y="0"/>
                  </a:lnTo>
                  <a:lnTo>
                    <a:pt x="146304" y="1567181"/>
                  </a:lnTo>
                  <a:lnTo>
                    <a:pt x="0" y="1567181"/>
                  </a:ln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74640" y="3531419"/>
            <a:ext cx="629040" cy="598948"/>
            <a:chOff x="0" y="0"/>
            <a:chExt cx="914400" cy="8706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870656"/>
            </a:xfrm>
            <a:custGeom>
              <a:avLst/>
              <a:gdLst/>
              <a:ahLst/>
              <a:cxnLst/>
              <a:rect l="l" t="t" r="r" b="b"/>
              <a:pathLst>
                <a:path w="914400" h="870656">
                  <a:moveTo>
                    <a:pt x="0" y="435328"/>
                  </a:moveTo>
                  <a:cubicBezTo>
                    <a:pt x="0" y="194930"/>
                    <a:pt x="204724" y="0"/>
                    <a:pt x="457200" y="0"/>
                  </a:cubicBezTo>
                  <a:cubicBezTo>
                    <a:pt x="709676" y="0"/>
                    <a:pt x="914400" y="194930"/>
                    <a:pt x="914400" y="435328"/>
                  </a:cubicBezTo>
                  <a:cubicBezTo>
                    <a:pt x="914400" y="675726"/>
                    <a:pt x="709676" y="870656"/>
                    <a:pt x="457200" y="870656"/>
                  </a:cubicBezTo>
                  <a:cubicBezTo>
                    <a:pt x="204724" y="870656"/>
                    <a:pt x="0" y="675726"/>
                    <a:pt x="0" y="43532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438191" y="3687146"/>
            <a:ext cx="301939" cy="287495"/>
            <a:chOff x="0" y="0"/>
            <a:chExt cx="438912" cy="417915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38912" cy="417915"/>
            </a:xfrm>
            <a:custGeom>
              <a:avLst/>
              <a:gdLst/>
              <a:ahLst/>
              <a:cxnLst/>
              <a:rect l="l" t="t" r="r" b="b"/>
              <a:pathLst>
                <a:path w="438912" h="417915">
                  <a:moveTo>
                    <a:pt x="0" y="0"/>
                  </a:moveTo>
                  <a:lnTo>
                    <a:pt x="438912" y="0"/>
                  </a:lnTo>
                  <a:lnTo>
                    <a:pt x="438912" y="417915"/>
                  </a:lnTo>
                  <a:lnTo>
                    <a:pt x="0" y="417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512" b="-251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2155297" y="3435587"/>
            <a:ext cx="8051717" cy="419263"/>
            <a:chOff x="0" y="0"/>
            <a:chExt cx="11704320" cy="60945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04320" cy="609459"/>
            </a:xfrm>
            <a:custGeom>
              <a:avLst/>
              <a:gdLst/>
              <a:ahLst/>
              <a:cxnLst/>
              <a:rect l="l" t="t" r="r" b="b"/>
              <a:pathLst>
                <a:path w="11704320" h="609459">
                  <a:moveTo>
                    <a:pt x="0" y="0"/>
                  </a:moveTo>
                  <a:lnTo>
                    <a:pt x="11704320" y="0"/>
                  </a:lnTo>
                  <a:lnTo>
                    <a:pt x="11704320" y="609459"/>
                  </a:lnTo>
                  <a:lnTo>
                    <a:pt x="0" y="609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938" b="-323938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2155297" y="3422696"/>
            <a:ext cx="8051717" cy="432155"/>
            <a:chOff x="0" y="0"/>
            <a:chExt cx="11704320" cy="62819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704320" cy="628199"/>
            </a:xfrm>
            <a:custGeom>
              <a:avLst/>
              <a:gdLst/>
              <a:ahLst/>
              <a:cxnLst/>
              <a:rect l="l" t="t" r="r" b="b"/>
              <a:pathLst>
                <a:path w="11704320" h="628199">
                  <a:moveTo>
                    <a:pt x="0" y="0"/>
                  </a:moveTo>
                  <a:lnTo>
                    <a:pt x="11704320" y="0"/>
                  </a:lnTo>
                  <a:lnTo>
                    <a:pt x="11704320" y="628199"/>
                  </a:lnTo>
                  <a:lnTo>
                    <a:pt x="0" y="6281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332" b="-31474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1704320" cy="637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Report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155297" y="3842872"/>
            <a:ext cx="8051717" cy="419263"/>
            <a:chOff x="0" y="0"/>
            <a:chExt cx="11704320" cy="6094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704320" cy="609459"/>
            </a:xfrm>
            <a:custGeom>
              <a:avLst/>
              <a:gdLst/>
              <a:ahLst/>
              <a:cxnLst/>
              <a:rect l="l" t="t" r="r" b="b"/>
              <a:pathLst>
                <a:path w="11704320" h="609459">
                  <a:moveTo>
                    <a:pt x="0" y="0"/>
                  </a:moveTo>
                  <a:lnTo>
                    <a:pt x="11704320" y="0"/>
                  </a:lnTo>
                  <a:lnTo>
                    <a:pt x="11704320" y="609459"/>
                  </a:lnTo>
                  <a:lnTo>
                    <a:pt x="0" y="609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938" b="-323938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2155297" y="3811677"/>
            <a:ext cx="8051717" cy="450459"/>
            <a:chOff x="0" y="0"/>
            <a:chExt cx="11704320" cy="65480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704320" cy="654806"/>
            </a:xfrm>
            <a:custGeom>
              <a:avLst/>
              <a:gdLst/>
              <a:ahLst/>
              <a:cxnLst/>
              <a:rect l="l" t="t" r="r" b="b"/>
              <a:pathLst>
                <a:path w="11704320" h="654806">
                  <a:moveTo>
                    <a:pt x="0" y="0"/>
                  </a:moveTo>
                  <a:lnTo>
                    <a:pt x="11704320" y="0"/>
                  </a:lnTo>
                  <a:lnTo>
                    <a:pt x="11704320" y="654806"/>
                  </a:lnTo>
                  <a:lnTo>
                    <a:pt x="0" y="654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772" b="-30079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1704320" cy="70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3"/>
                </a:lnSpc>
              </a:pPr>
              <a:r>
                <a:rPr lang="en-US" sz="1845">
                  <a:solidFill>
                    <a:srgbClr val="AEC1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Problem, design, build steps and final results.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0120" y="4549630"/>
            <a:ext cx="9435606" cy="1078106"/>
            <a:chOff x="0" y="0"/>
            <a:chExt cx="13716000" cy="156718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716000" cy="1567181"/>
            </a:xfrm>
            <a:custGeom>
              <a:avLst/>
              <a:gdLst/>
              <a:ahLst/>
              <a:cxnLst/>
              <a:rect l="l" t="t" r="r" b="b"/>
              <a:pathLst>
                <a:path w="13716000" h="1567181">
                  <a:moveTo>
                    <a:pt x="0" y="0"/>
                  </a:moveTo>
                  <a:lnTo>
                    <a:pt x="13716000" y="0"/>
                  </a:lnTo>
                  <a:lnTo>
                    <a:pt x="13716000" y="1567181"/>
                  </a:lnTo>
                  <a:lnTo>
                    <a:pt x="0" y="1567181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60120" y="4549630"/>
            <a:ext cx="100646" cy="1078106"/>
            <a:chOff x="0" y="0"/>
            <a:chExt cx="146304" cy="156718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6304" cy="1567181"/>
            </a:xfrm>
            <a:custGeom>
              <a:avLst/>
              <a:gdLst/>
              <a:ahLst/>
              <a:cxnLst/>
              <a:rect l="l" t="t" r="r" b="b"/>
              <a:pathLst>
                <a:path w="146304" h="1567181">
                  <a:moveTo>
                    <a:pt x="0" y="0"/>
                  </a:moveTo>
                  <a:lnTo>
                    <a:pt x="146304" y="0"/>
                  </a:lnTo>
                  <a:lnTo>
                    <a:pt x="146304" y="1567181"/>
                  </a:lnTo>
                  <a:lnTo>
                    <a:pt x="0" y="1567181"/>
                  </a:ln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274640" y="4789209"/>
            <a:ext cx="629040" cy="598948"/>
            <a:chOff x="0" y="0"/>
            <a:chExt cx="914400" cy="87065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870656"/>
            </a:xfrm>
            <a:custGeom>
              <a:avLst/>
              <a:gdLst/>
              <a:ahLst/>
              <a:cxnLst/>
              <a:rect l="l" t="t" r="r" b="b"/>
              <a:pathLst>
                <a:path w="914400" h="870656">
                  <a:moveTo>
                    <a:pt x="0" y="435328"/>
                  </a:moveTo>
                  <a:cubicBezTo>
                    <a:pt x="0" y="194930"/>
                    <a:pt x="204724" y="0"/>
                    <a:pt x="457200" y="0"/>
                  </a:cubicBezTo>
                  <a:cubicBezTo>
                    <a:pt x="709676" y="0"/>
                    <a:pt x="914400" y="194930"/>
                    <a:pt x="914400" y="435328"/>
                  </a:cubicBezTo>
                  <a:cubicBezTo>
                    <a:pt x="914400" y="675726"/>
                    <a:pt x="709676" y="870656"/>
                    <a:pt x="457200" y="870656"/>
                  </a:cubicBezTo>
                  <a:cubicBezTo>
                    <a:pt x="204724" y="870656"/>
                    <a:pt x="0" y="675726"/>
                    <a:pt x="0" y="43532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438191" y="4944936"/>
            <a:ext cx="301939" cy="287495"/>
            <a:chOff x="0" y="0"/>
            <a:chExt cx="438912" cy="417915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438912" cy="417915"/>
            </a:xfrm>
            <a:custGeom>
              <a:avLst/>
              <a:gdLst/>
              <a:ahLst/>
              <a:cxnLst/>
              <a:rect l="l" t="t" r="r" b="b"/>
              <a:pathLst>
                <a:path w="438912" h="417915">
                  <a:moveTo>
                    <a:pt x="0" y="0"/>
                  </a:moveTo>
                  <a:lnTo>
                    <a:pt x="438912" y="0"/>
                  </a:lnTo>
                  <a:lnTo>
                    <a:pt x="438912" y="417915"/>
                  </a:lnTo>
                  <a:lnTo>
                    <a:pt x="0" y="417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12" b="-2512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2155297" y="4693378"/>
            <a:ext cx="8051717" cy="419263"/>
            <a:chOff x="0" y="0"/>
            <a:chExt cx="11704320" cy="60945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704320" cy="609459"/>
            </a:xfrm>
            <a:custGeom>
              <a:avLst/>
              <a:gdLst/>
              <a:ahLst/>
              <a:cxnLst/>
              <a:rect l="l" t="t" r="r" b="b"/>
              <a:pathLst>
                <a:path w="11704320" h="609459">
                  <a:moveTo>
                    <a:pt x="0" y="0"/>
                  </a:moveTo>
                  <a:lnTo>
                    <a:pt x="11704320" y="0"/>
                  </a:lnTo>
                  <a:lnTo>
                    <a:pt x="11704320" y="609459"/>
                  </a:lnTo>
                  <a:lnTo>
                    <a:pt x="0" y="609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938" b="-323938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2155297" y="4680486"/>
            <a:ext cx="8051717" cy="432155"/>
            <a:chOff x="0" y="0"/>
            <a:chExt cx="11704320" cy="62819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704320" cy="628199"/>
            </a:xfrm>
            <a:custGeom>
              <a:avLst/>
              <a:gdLst/>
              <a:ahLst/>
              <a:cxnLst/>
              <a:rect l="l" t="t" r="r" b="b"/>
              <a:pathLst>
                <a:path w="11704320" h="628199">
                  <a:moveTo>
                    <a:pt x="0" y="0"/>
                  </a:moveTo>
                  <a:lnTo>
                    <a:pt x="11704320" y="0"/>
                  </a:lnTo>
                  <a:lnTo>
                    <a:pt x="11704320" y="628199"/>
                  </a:lnTo>
                  <a:lnTo>
                    <a:pt x="0" y="6281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332" b="-314740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11704320" cy="637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Wiring &amp; Block Diagrams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155297" y="5100662"/>
            <a:ext cx="8051717" cy="419263"/>
            <a:chOff x="0" y="0"/>
            <a:chExt cx="11704320" cy="60945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704320" cy="609459"/>
            </a:xfrm>
            <a:custGeom>
              <a:avLst/>
              <a:gdLst/>
              <a:ahLst/>
              <a:cxnLst/>
              <a:rect l="l" t="t" r="r" b="b"/>
              <a:pathLst>
                <a:path w="11704320" h="609459">
                  <a:moveTo>
                    <a:pt x="0" y="0"/>
                  </a:moveTo>
                  <a:lnTo>
                    <a:pt x="11704320" y="0"/>
                  </a:lnTo>
                  <a:lnTo>
                    <a:pt x="11704320" y="609459"/>
                  </a:lnTo>
                  <a:lnTo>
                    <a:pt x="0" y="609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938" b="-323938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2155297" y="5069467"/>
            <a:ext cx="8051717" cy="450459"/>
            <a:chOff x="0" y="0"/>
            <a:chExt cx="11704320" cy="65480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704320" cy="654806"/>
            </a:xfrm>
            <a:custGeom>
              <a:avLst/>
              <a:gdLst/>
              <a:ahLst/>
              <a:cxnLst/>
              <a:rect l="l" t="t" r="r" b="b"/>
              <a:pathLst>
                <a:path w="11704320" h="654806">
                  <a:moveTo>
                    <a:pt x="0" y="0"/>
                  </a:moveTo>
                  <a:lnTo>
                    <a:pt x="11704320" y="0"/>
                  </a:lnTo>
                  <a:lnTo>
                    <a:pt x="11704320" y="654806"/>
                  </a:lnTo>
                  <a:lnTo>
                    <a:pt x="0" y="654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772" b="-300797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1704320" cy="70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3"/>
                </a:lnSpc>
              </a:pPr>
              <a:r>
                <a:rPr lang="en-US" sz="1845">
                  <a:solidFill>
                    <a:srgbClr val="AEC1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 maps, SPI/I2C/UART wiring and architecture.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0120" y="5807421"/>
            <a:ext cx="9435606" cy="1078106"/>
            <a:chOff x="0" y="0"/>
            <a:chExt cx="13716000" cy="156718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3716000" cy="1567181"/>
            </a:xfrm>
            <a:custGeom>
              <a:avLst/>
              <a:gdLst/>
              <a:ahLst/>
              <a:cxnLst/>
              <a:rect l="l" t="t" r="r" b="b"/>
              <a:pathLst>
                <a:path w="13716000" h="1567181">
                  <a:moveTo>
                    <a:pt x="0" y="0"/>
                  </a:moveTo>
                  <a:lnTo>
                    <a:pt x="13716000" y="0"/>
                  </a:lnTo>
                  <a:lnTo>
                    <a:pt x="13716000" y="1567181"/>
                  </a:lnTo>
                  <a:lnTo>
                    <a:pt x="0" y="1567181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60120" y="5807421"/>
            <a:ext cx="100646" cy="1078106"/>
            <a:chOff x="0" y="0"/>
            <a:chExt cx="146304" cy="156718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46304" cy="1567181"/>
            </a:xfrm>
            <a:custGeom>
              <a:avLst/>
              <a:gdLst/>
              <a:ahLst/>
              <a:cxnLst/>
              <a:rect l="l" t="t" r="r" b="b"/>
              <a:pathLst>
                <a:path w="146304" h="1567181">
                  <a:moveTo>
                    <a:pt x="0" y="0"/>
                  </a:moveTo>
                  <a:lnTo>
                    <a:pt x="146304" y="0"/>
                  </a:lnTo>
                  <a:lnTo>
                    <a:pt x="146304" y="1567181"/>
                  </a:lnTo>
                  <a:lnTo>
                    <a:pt x="0" y="1567181"/>
                  </a:ln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274640" y="6047000"/>
            <a:ext cx="629040" cy="598948"/>
            <a:chOff x="0" y="0"/>
            <a:chExt cx="914400" cy="8706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14400" cy="870656"/>
            </a:xfrm>
            <a:custGeom>
              <a:avLst/>
              <a:gdLst/>
              <a:ahLst/>
              <a:cxnLst/>
              <a:rect l="l" t="t" r="r" b="b"/>
              <a:pathLst>
                <a:path w="914400" h="870656">
                  <a:moveTo>
                    <a:pt x="0" y="435328"/>
                  </a:moveTo>
                  <a:cubicBezTo>
                    <a:pt x="0" y="194930"/>
                    <a:pt x="204724" y="0"/>
                    <a:pt x="457200" y="0"/>
                  </a:cubicBezTo>
                  <a:cubicBezTo>
                    <a:pt x="709676" y="0"/>
                    <a:pt x="914400" y="194930"/>
                    <a:pt x="914400" y="435328"/>
                  </a:cubicBezTo>
                  <a:cubicBezTo>
                    <a:pt x="914400" y="675726"/>
                    <a:pt x="709676" y="870656"/>
                    <a:pt x="457200" y="870656"/>
                  </a:cubicBezTo>
                  <a:cubicBezTo>
                    <a:pt x="204724" y="870656"/>
                    <a:pt x="0" y="675726"/>
                    <a:pt x="0" y="43532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438191" y="6202726"/>
            <a:ext cx="301939" cy="287495"/>
            <a:chOff x="0" y="0"/>
            <a:chExt cx="438912" cy="417915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438912" cy="417915"/>
            </a:xfrm>
            <a:custGeom>
              <a:avLst/>
              <a:gdLst/>
              <a:ahLst/>
              <a:cxnLst/>
              <a:rect l="l" t="t" r="r" b="b"/>
              <a:pathLst>
                <a:path w="438912" h="417915">
                  <a:moveTo>
                    <a:pt x="0" y="0"/>
                  </a:moveTo>
                  <a:lnTo>
                    <a:pt x="438912" y="0"/>
                  </a:lnTo>
                  <a:lnTo>
                    <a:pt x="438912" y="417915"/>
                  </a:lnTo>
                  <a:lnTo>
                    <a:pt x="0" y="417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512" b="-2512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2155297" y="5951168"/>
            <a:ext cx="8051717" cy="419263"/>
            <a:chOff x="0" y="0"/>
            <a:chExt cx="11704320" cy="60945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704320" cy="609459"/>
            </a:xfrm>
            <a:custGeom>
              <a:avLst/>
              <a:gdLst/>
              <a:ahLst/>
              <a:cxnLst/>
              <a:rect l="l" t="t" r="r" b="b"/>
              <a:pathLst>
                <a:path w="11704320" h="609459">
                  <a:moveTo>
                    <a:pt x="0" y="0"/>
                  </a:moveTo>
                  <a:lnTo>
                    <a:pt x="11704320" y="0"/>
                  </a:lnTo>
                  <a:lnTo>
                    <a:pt x="11704320" y="609459"/>
                  </a:lnTo>
                  <a:lnTo>
                    <a:pt x="0" y="609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938" b="-323938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2155297" y="5938277"/>
            <a:ext cx="8051717" cy="432155"/>
            <a:chOff x="0" y="0"/>
            <a:chExt cx="11704320" cy="62819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1704320" cy="628199"/>
            </a:xfrm>
            <a:custGeom>
              <a:avLst/>
              <a:gdLst/>
              <a:ahLst/>
              <a:cxnLst/>
              <a:rect l="l" t="t" r="r" b="b"/>
              <a:pathLst>
                <a:path w="11704320" h="628199">
                  <a:moveTo>
                    <a:pt x="0" y="0"/>
                  </a:moveTo>
                  <a:lnTo>
                    <a:pt x="11704320" y="0"/>
                  </a:lnTo>
                  <a:lnTo>
                    <a:pt x="11704320" y="628199"/>
                  </a:lnTo>
                  <a:lnTo>
                    <a:pt x="0" y="6281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332" b="-314740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11704320" cy="637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Code Documentation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155297" y="6358453"/>
            <a:ext cx="8051717" cy="419263"/>
            <a:chOff x="0" y="0"/>
            <a:chExt cx="11704320" cy="60945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704320" cy="609459"/>
            </a:xfrm>
            <a:custGeom>
              <a:avLst/>
              <a:gdLst/>
              <a:ahLst/>
              <a:cxnLst/>
              <a:rect l="l" t="t" r="r" b="b"/>
              <a:pathLst>
                <a:path w="11704320" h="609459">
                  <a:moveTo>
                    <a:pt x="0" y="0"/>
                  </a:moveTo>
                  <a:lnTo>
                    <a:pt x="11704320" y="0"/>
                  </a:lnTo>
                  <a:lnTo>
                    <a:pt x="11704320" y="609459"/>
                  </a:lnTo>
                  <a:lnTo>
                    <a:pt x="0" y="609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938" b="-323938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2155297" y="6327257"/>
            <a:ext cx="8051717" cy="450459"/>
            <a:chOff x="0" y="0"/>
            <a:chExt cx="11704320" cy="65480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704320" cy="654806"/>
            </a:xfrm>
            <a:custGeom>
              <a:avLst/>
              <a:gdLst/>
              <a:ahLst/>
              <a:cxnLst/>
              <a:rect l="l" t="t" r="r" b="b"/>
              <a:pathLst>
                <a:path w="11704320" h="654806">
                  <a:moveTo>
                    <a:pt x="0" y="0"/>
                  </a:moveTo>
                  <a:lnTo>
                    <a:pt x="11704320" y="0"/>
                  </a:lnTo>
                  <a:lnTo>
                    <a:pt x="11704320" y="654806"/>
                  </a:lnTo>
                  <a:lnTo>
                    <a:pt x="0" y="654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772" b="-30079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11704320" cy="70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3"/>
                </a:lnSpc>
              </a:pPr>
              <a:r>
                <a:rPr lang="en-US" sz="1845">
                  <a:solidFill>
                    <a:srgbClr val="AEC1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Commented STM32 firmware and FreeRTOS task notes.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60120" y="7065211"/>
            <a:ext cx="9435606" cy="1078106"/>
            <a:chOff x="0" y="0"/>
            <a:chExt cx="13716000" cy="1567181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3716000" cy="1567181"/>
            </a:xfrm>
            <a:custGeom>
              <a:avLst/>
              <a:gdLst/>
              <a:ahLst/>
              <a:cxnLst/>
              <a:rect l="l" t="t" r="r" b="b"/>
              <a:pathLst>
                <a:path w="13716000" h="1567181">
                  <a:moveTo>
                    <a:pt x="0" y="0"/>
                  </a:moveTo>
                  <a:lnTo>
                    <a:pt x="13716000" y="0"/>
                  </a:lnTo>
                  <a:lnTo>
                    <a:pt x="13716000" y="1567181"/>
                  </a:lnTo>
                  <a:lnTo>
                    <a:pt x="0" y="1567181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60120" y="7065211"/>
            <a:ext cx="100646" cy="1078106"/>
            <a:chOff x="0" y="0"/>
            <a:chExt cx="146304" cy="156718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46304" cy="1567181"/>
            </a:xfrm>
            <a:custGeom>
              <a:avLst/>
              <a:gdLst/>
              <a:ahLst/>
              <a:cxnLst/>
              <a:rect l="l" t="t" r="r" b="b"/>
              <a:pathLst>
                <a:path w="146304" h="1567181">
                  <a:moveTo>
                    <a:pt x="0" y="0"/>
                  </a:moveTo>
                  <a:lnTo>
                    <a:pt x="146304" y="0"/>
                  </a:lnTo>
                  <a:lnTo>
                    <a:pt x="146304" y="1567181"/>
                  </a:lnTo>
                  <a:lnTo>
                    <a:pt x="0" y="1567181"/>
                  </a:ln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274640" y="7304790"/>
            <a:ext cx="629040" cy="598948"/>
            <a:chOff x="0" y="0"/>
            <a:chExt cx="914400" cy="87065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14400" cy="870656"/>
            </a:xfrm>
            <a:custGeom>
              <a:avLst/>
              <a:gdLst/>
              <a:ahLst/>
              <a:cxnLst/>
              <a:rect l="l" t="t" r="r" b="b"/>
              <a:pathLst>
                <a:path w="914400" h="870656">
                  <a:moveTo>
                    <a:pt x="0" y="435328"/>
                  </a:moveTo>
                  <a:cubicBezTo>
                    <a:pt x="0" y="194930"/>
                    <a:pt x="204724" y="0"/>
                    <a:pt x="457200" y="0"/>
                  </a:cubicBezTo>
                  <a:cubicBezTo>
                    <a:pt x="709676" y="0"/>
                    <a:pt x="914400" y="194930"/>
                    <a:pt x="914400" y="435328"/>
                  </a:cubicBezTo>
                  <a:cubicBezTo>
                    <a:pt x="914400" y="675726"/>
                    <a:pt x="709676" y="870656"/>
                    <a:pt x="457200" y="870656"/>
                  </a:cubicBezTo>
                  <a:cubicBezTo>
                    <a:pt x="204724" y="870656"/>
                    <a:pt x="0" y="675726"/>
                    <a:pt x="0" y="435328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438191" y="7460517"/>
            <a:ext cx="301939" cy="287495"/>
            <a:chOff x="0" y="0"/>
            <a:chExt cx="438912" cy="417915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438912" cy="417915"/>
            </a:xfrm>
            <a:custGeom>
              <a:avLst/>
              <a:gdLst/>
              <a:ahLst/>
              <a:cxnLst/>
              <a:rect l="l" t="t" r="r" b="b"/>
              <a:pathLst>
                <a:path w="438912" h="417915">
                  <a:moveTo>
                    <a:pt x="0" y="0"/>
                  </a:moveTo>
                  <a:lnTo>
                    <a:pt x="438912" y="0"/>
                  </a:lnTo>
                  <a:lnTo>
                    <a:pt x="438912" y="417915"/>
                  </a:lnTo>
                  <a:lnTo>
                    <a:pt x="0" y="417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512" b="-2512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2155297" y="7208959"/>
            <a:ext cx="8051717" cy="419263"/>
            <a:chOff x="0" y="0"/>
            <a:chExt cx="11704320" cy="609459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704320" cy="609459"/>
            </a:xfrm>
            <a:custGeom>
              <a:avLst/>
              <a:gdLst/>
              <a:ahLst/>
              <a:cxnLst/>
              <a:rect l="l" t="t" r="r" b="b"/>
              <a:pathLst>
                <a:path w="11704320" h="609459">
                  <a:moveTo>
                    <a:pt x="0" y="0"/>
                  </a:moveTo>
                  <a:lnTo>
                    <a:pt x="11704320" y="0"/>
                  </a:lnTo>
                  <a:lnTo>
                    <a:pt x="11704320" y="609459"/>
                  </a:lnTo>
                  <a:lnTo>
                    <a:pt x="0" y="609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938" b="-323938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2155297" y="7196067"/>
            <a:ext cx="8051717" cy="432155"/>
            <a:chOff x="0" y="0"/>
            <a:chExt cx="11704320" cy="628199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704320" cy="628199"/>
            </a:xfrm>
            <a:custGeom>
              <a:avLst/>
              <a:gdLst/>
              <a:ahLst/>
              <a:cxnLst/>
              <a:rect l="l" t="t" r="r" b="b"/>
              <a:pathLst>
                <a:path w="11704320" h="628199">
                  <a:moveTo>
                    <a:pt x="0" y="0"/>
                  </a:moveTo>
                  <a:lnTo>
                    <a:pt x="11704320" y="0"/>
                  </a:lnTo>
                  <a:lnTo>
                    <a:pt x="11704320" y="628199"/>
                  </a:lnTo>
                  <a:lnTo>
                    <a:pt x="0" y="6281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332" b="-314740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11704320" cy="637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 &amp; Admin Manual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2155297" y="7616243"/>
            <a:ext cx="8051717" cy="419263"/>
            <a:chOff x="0" y="0"/>
            <a:chExt cx="11704320" cy="609459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1704320" cy="609459"/>
            </a:xfrm>
            <a:custGeom>
              <a:avLst/>
              <a:gdLst/>
              <a:ahLst/>
              <a:cxnLst/>
              <a:rect l="l" t="t" r="r" b="b"/>
              <a:pathLst>
                <a:path w="11704320" h="609459">
                  <a:moveTo>
                    <a:pt x="0" y="0"/>
                  </a:moveTo>
                  <a:lnTo>
                    <a:pt x="11704320" y="0"/>
                  </a:lnTo>
                  <a:lnTo>
                    <a:pt x="11704320" y="609459"/>
                  </a:lnTo>
                  <a:lnTo>
                    <a:pt x="0" y="609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938" b="-323938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2155297" y="7585048"/>
            <a:ext cx="8051717" cy="450459"/>
            <a:chOff x="0" y="0"/>
            <a:chExt cx="11704320" cy="65480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1704320" cy="654806"/>
            </a:xfrm>
            <a:custGeom>
              <a:avLst/>
              <a:gdLst/>
              <a:ahLst/>
              <a:cxnLst/>
              <a:rect l="l" t="t" r="r" b="b"/>
              <a:pathLst>
                <a:path w="11704320" h="654806">
                  <a:moveTo>
                    <a:pt x="0" y="0"/>
                  </a:moveTo>
                  <a:lnTo>
                    <a:pt x="11704320" y="0"/>
                  </a:lnTo>
                  <a:lnTo>
                    <a:pt x="11704320" y="654806"/>
                  </a:lnTo>
                  <a:lnTo>
                    <a:pt x="0" y="654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5772" b="-300797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11704320" cy="70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3"/>
                </a:lnSpc>
              </a:pPr>
              <a:r>
                <a:rPr lang="en-US" sz="1845">
                  <a:solidFill>
                    <a:srgbClr val="AEC1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the dashboard, gates, receipts and overrides.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77323" y="8467167"/>
            <a:ext cx="1303020" cy="1303020"/>
            <a:chOff x="0" y="0"/>
            <a:chExt cx="1737360" cy="173736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1216108" y="8805952"/>
            <a:ext cx="625412" cy="625412"/>
            <a:chOff x="0" y="0"/>
            <a:chExt cx="833882" cy="833882"/>
          </a:xfrm>
        </p:grpSpPr>
        <p:sp>
          <p:nvSpPr>
            <p:cNvPr id="92" name="Freeform 92" descr="preencoded.png"/>
            <p:cNvSpPr/>
            <p:nvPr/>
          </p:nvSpPr>
          <p:spPr>
            <a:xfrm>
              <a:off x="0" y="0"/>
              <a:ext cx="833882" cy="833882"/>
            </a:xfrm>
            <a:custGeom>
              <a:avLst/>
              <a:gdLst/>
              <a:ahLst/>
              <a:cxnLst/>
              <a:rect l="l" t="t" r="r" b="b"/>
              <a:pathLst>
                <a:path w="833882" h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93" name="Group 93"/>
          <p:cNvGrpSpPr/>
          <p:nvPr/>
        </p:nvGrpSpPr>
        <p:grpSpPr>
          <a:xfrm>
            <a:off x="2523243" y="8631759"/>
            <a:ext cx="7818120" cy="548640"/>
            <a:chOff x="0" y="0"/>
            <a:chExt cx="10424160" cy="73152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424160" cy="731520"/>
            </a:xfrm>
            <a:custGeom>
              <a:avLst/>
              <a:gdLst/>
              <a:ahLst/>
              <a:cxnLst/>
              <a:rect l="l" t="t" r="r" b="b"/>
              <a:pathLst>
                <a:path w="10424160" h="731520">
                  <a:moveTo>
                    <a:pt x="0" y="0"/>
                  </a:moveTo>
                  <a:lnTo>
                    <a:pt x="10424160" y="0"/>
                  </a:lnTo>
                  <a:lnTo>
                    <a:pt x="1042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7468" b="-227468"/>
              </a:stretch>
            </a:blipFill>
          </p:spPr>
        </p:sp>
      </p:grpSp>
      <p:grpSp>
        <p:nvGrpSpPr>
          <p:cNvPr id="95" name="Group 95"/>
          <p:cNvGrpSpPr/>
          <p:nvPr/>
        </p:nvGrpSpPr>
        <p:grpSpPr>
          <a:xfrm>
            <a:off x="2523243" y="8624615"/>
            <a:ext cx="7818120" cy="555784"/>
            <a:chOff x="0" y="0"/>
            <a:chExt cx="10424160" cy="741045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0424160" cy="741045"/>
            </a:xfrm>
            <a:custGeom>
              <a:avLst/>
              <a:gdLst/>
              <a:ahLst/>
              <a:cxnLst/>
              <a:rect l="l" t="t" r="r" b="b"/>
              <a:pathLst>
                <a:path w="10424160" h="741045">
                  <a:moveTo>
                    <a:pt x="0" y="0"/>
                  </a:moveTo>
                  <a:lnTo>
                    <a:pt x="10424160" y="0"/>
                  </a:lnTo>
                  <a:lnTo>
                    <a:pt x="1042416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4092" b="-224092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9525"/>
              <a:ext cx="10424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Repository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2523243" y="9221547"/>
            <a:ext cx="7955280" cy="548640"/>
            <a:chOff x="0" y="0"/>
            <a:chExt cx="10607040" cy="73152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0607040" cy="731520"/>
            </a:xfrm>
            <a:custGeom>
              <a:avLst/>
              <a:gdLst/>
              <a:ahLst/>
              <a:cxnLst/>
              <a:rect l="l" t="t" r="r" b="b"/>
              <a:pathLst>
                <a:path w="10607040" h="73152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2336" b="-232336"/>
              </a:stretch>
            </a:blipFill>
          </p:spPr>
        </p:sp>
      </p:grpSp>
      <p:grpSp>
        <p:nvGrpSpPr>
          <p:cNvPr id="100" name="Group 100"/>
          <p:cNvGrpSpPr/>
          <p:nvPr/>
        </p:nvGrpSpPr>
        <p:grpSpPr>
          <a:xfrm>
            <a:off x="2523243" y="9192972"/>
            <a:ext cx="7955280" cy="577215"/>
            <a:chOff x="0" y="0"/>
            <a:chExt cx="10607040" cy="76962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0607040" cy="769620"/>
            </a:xfrm>
            <a:custGeom>
              <a:avLst/>
              <a:gdLst/>
              <a:ahLst/>
              <a:cxnLst/>
              <a:rect l="l" t="t" r="r" b="b"/>
              <a:pathLst>
                <a:path w="10607040" h="769620">
                  <a:moveTo>
                    <a:pt x="0" y="0"/>
                  </a:moveTo>
                  <a:lnTo>
                    <a:pt x="10607040" y="0"/>
                  </a:lnTo>
                  <a:lnTo>
                    <a:pt x="106070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8546" b="-218546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1060704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EC4B6"/>
                  </a:solidFill>
                  <a:latin typeface="Consolas"/>
                  <a:ea typeface="Consolas"/>
                  <a:cs typeface="Consolas"/>
                  <a:sym typeface="Consolas"/>
                </a:rPr>
                <a:t>github.com/Norhanoraby/parking-system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1696905" y="1206772"/>
            <a:ext cx="5897829" cy="7986200"/>
            <a:chOff x="0" y="0"/>
            <a:chExt cx="7863773" cy="1064826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7863772" cy="10648266"/>
            </a:xfrm>
            <a:custGeom>
              <a:avLst/>
              <a:gdLst/>
              <a:ahLst/>
              <a:cxnLst/>
              <a:rect l="l" t="t" r="r" b="b"/>
              <a:pathLst>
                <a:path w="7863772" h="10648266">
                  <a:moveTo>
                    <a:pt x="0" y="0"/>
                  </a:moveTo>
                  <a:lnTo>
                    <a:pt x="7863772" y="0"/>
                  </a:lnTo>
                  <a:lnTo>
                    <a:pt x="7863772" y="10648266"/>
                  </a:lnTo>
                  <a:lnTo>
                    <a:pt x="0" y="10648266"/>
                  </a:lnTo>
                  <a:close/>
                </a:path>
              </a:pathLst>
            </a:custGeom>
            <a:solidFill>
              <a:srgbClr val="13315C"/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12728768" y="2030773"/>
            <a:ext cx="3712228" cy="1378650"/>
            <a:chOff x="0" y="0"/>
            <a:chExt cx="4949637" cy="183820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4949637" cy="1838200"/>
            </a:xfrm>
            <a:custGeom>
              <a:avLst/>
              <a:gdLst/>
              <a:ahLst/>
              <a:cxnLst/>
              <a:rect l="l" t="t" r="r" b="b"/>
              <a:pathLst>
                <a:path w="4949637" h="1838200">
                  <a:moveTo>
                    <a:pt x="0" y="220584"/>
                  </a:moveTo>
                  <a:cubicBezTo>
                    <a:pt x="0" y="98718"/>
                    <a:pt x="128620" y="0"/>
                    <a:pt x="287398" y="0"/>
                  </a:cubicBezTo>
                  <a:lnTo>
                    <a:pt x="4662239" y="0"/>
                  </a:lnTo>
                  <a:cubicBezTo>
                    <a:pt x="4821017" y="0"/>
                    <a:pt x="4949637" y="98718"/>
                    <a:pt x="4949637" y="220584"/>
                  </a:cubicBezTo>
                  <a:lnTo>
                    <a:pt x="4949637" y="1617616"/>
                  </a:lnTo>
                  <a:cubicBezTo>
                    <a:pt x="4949637" y="1739482"/>
                    <a:pt x="4821017" y="1838200"/>
                    <a:pt x="4662239" y="1838200"/>
                  </a:cubicBezTo>
                  <a:lnTo>
                    <a:pt x="287398" y="1838200"/>
                  </a:lnTo>
                  <a:cubicBezTo>
                    <a:pt x="128620" y="1838200"/>
                    <a:pt x="0" y="1739482"/>
                    <a:pt x="0" y="161761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2728768" y="2306503"/>
            <a:ext cx="3712228" cy="751991"/>
            <a:chOff x="0" y="0"/>
            <a:chExt cx="4949637" cy="1002655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949637" cy="1002655"/>
            </a:xfrm>
            <a:custGeom>
              <a:avLst/>
              <a:gdLst/>
              <a:ahLst/>
              <a:cxnLst/>
              <a:rect l="l" t="t" r="r" b="b"/>
              <a:pathLst>
                <a:path w="4949637" h="1002655">
                  <a:moveTo>
                    <a:pt x="0" y="0"/>
                  </a:moveTo>
                  <a:lnTo>
                    <a:pt x="4949637" y="0"/>
                  </a:lnTo>
                  <a:lnTo>
                    <a:pt x="4949637" y="1002655"/>
                  </a:lnTo>
                  <a:lnTo>
                    <a:pt x="0" y="10026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6121" b="-46120"/>
              </a:stretch>
            </a:blipFill>
          </p:spPr>
        </p:sp>
      </p:grpSp>
      <p:grpSp>
        <p:nvGrpSpPr>
          <p:cNvPr id="109" name="Group 109"/>
          <p:cNvGrpSpPr/>
          <p:nvPr/>
        </p:nvGrpSpPr>
        <p:grpSpPr>
          <a:xfrm>
            <a:off x="12728768" y="2350108"/>
            <a:ext cx="3712228" cy="758519"/>
            <a:chOff x="0" y="0"/>
            <a:chExt cx="4949637" cy="101135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4949637" cy="1011358"/>
            </a:xfrm>
            <a:custGeom>
              <a:avLst/>
              <a:gdLst/>
              <a:ahLst/>
              <a:cxnLst/>
              <a:rect l="l" t="t" r="r" b="b"/>
              <a:pathLst>
                <a:path w="4949637" h="1011358">
                  <a:moveTo>
                    <a:pt x="0" y="0"/>
                  </a:moveTo>
                  <a:lnTo>
                    <a:pt x="4949637" y="0"/>
                  </a:lnTo>
                  <a:lnTo>
                    <a:pt x="4949637" y="1011358"/>
                  </a:lnTo>
                  <a:lnTo>
                    <a:pt x="0" y="10113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506" r="-14539" b="-63944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9525"/>
              <a:ext cx="4949637" cy="10208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2850643" y="3058984"/>
            <a:ext cx="3712228" cy="501327"/>
            <a:chOff x="0" y="0"/>
            <a:chExt cx="4949637" cy="66843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4949637" cy="668436"/>
            </a:xfrm>
            <a:custGeom>
              <a:avLst/>
              <a:gdLst/>
              <a:ahLst/>
              <a:cxnLst/>
              <a:rect l="l" t="t" r="r" b="b"/>
              <a:pathLst>
                <a:path w="4949637" h="668436">
                  <a:moveTo>
                    <a:pt x="0" y="0"/>
                  </a:moveTo>
                  <a:lnTo>
                    <a:pt x="4949637" y="0"/>
                  </a:lnTo>
                  <a:lnTo>
                    <a:pt x="4949637" y="668436"/>
                  </a:lnTo>
                  <a:lnTo>
                    <a:pt x="0" y="6684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4182" b="-94181"/>
              </a:stretch>
            </a:blipFill>
          </p:spPr>
        </p:sp>
      </p:grpSp>
      <p:grpSp>
        <p:nvGrpSpPr>
          <p:cNvPr id="114" name="Group 114"/>
          <p:cNvGrpSpPr/>
          <p:nvPr/>
        </p:nvGrpSpPr>
        <p:grpSpPr>
          <a:xfrm>
            <a:off x="11820475" y="8076052"/>
            <a:ext cx="5528813" cy="725891"/>
            <a:chOff x="0" y="0"/>
            <a:chExt cx="7371751" cy="967855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7371751" cy="967855"/>
            </a:xfrm>
            <a:custGeom>
              <a:avLst/>
              <a:gdLst/>
              <a:ahLst/>
              <a:cxnLst/>
              <a:rect l="l" t="t" r="r" b="b"/>
              <a:pathLst>
                <a:path w="7371751" h="967855">
                  <a:moveTo>
                    <a:pt x="0" y="0"/>
                  </a:moveTo>
                  <a:lnTo>
                    <a:pt x="7371751" y="0"/>
                  </a:lnTo>
                  <a:lnTo>
                    <a:pt x="7371751" y="967855"/>
                  </a:lnTo>
                  <a:lnTo>
                    <a:pt x="0" y="967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282" r="-2457" b="-90832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19050"/>
              <a:ext cx="7371751" cy="986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Scan to open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2879124" y="4217659"/>
            <a:ext cx="3411516" cy="3411516"/>
            <a:chOff x="0" y="0"/>
            <a:chExt cx="3519170" cy="351917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3519170" cy="3519170"/>
            </a:xfrm>
            <a:custGeom>
              <a:avLst/>
              <a:gdLst/>
              <a:ahLst/>
              <a:cxnLst/>
              <a:rect l="l" t="t" r="r" b="b"/>
              <a:pathLst>
                <a:path w="3519170" h="3519170">
                  <a:moveTo>
                    <a:pt x="0" y="0"/>
                  </a:moveTo>
                  <a:lnTo>
                    <a:pt x="3519170" y="0"/>
                  </a:lnTo>
                  <a:lnTo>
                    <a:pt x="3519170" y="3519170"/>
                  </a:lnTo>
                  <a:lnTo>
                    <a:pt x="0" y="35191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id="119" name="Group 119"/>
          <p:cNvGrpSpPr/>
          <p:nvPr/>
        </p:nvGrpSpPr>
        <p:grpSpPr>
          <a:xfrm>
            <a:off x="13042498" y="4381033"/>
            <a:ext cx="3084768" cy="3084768"/>
            <a:chOff x="0" y="0"/>
            <a:chExt cx="3182112" cy="3182112"/>
          </a:xfrm>
        </p:grpSpPr>
        <p:sp>
          <p:nvSpPr>
            <p:cNvPr id="120" name="Freeform 120" descr="preencoded.png"/>
            <p:cNvSpPr/>
            <p:nvPr/>
          </p:nvSpPr>
          <p:spPr>
            <a:xfrm>
              <a:off x="0" y="0"/>
              <a:ext cx="3182112" cy="3182112"/>
            </a:xfrm>
            <a:custGeom>
              <a:avLst/>
              <a:gdLst/>
              <a:ahLst/>
              <a:cxnLst/>
              <a:rect l="l" t="t" r="r" b="b"/>
              <a:pathLst>
                <a:path w="3182112" h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3182112"/>
                  </a:lnTo>
                  <a:lnTo>
                    <a:pt x="0" y="3182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Microsoft Office PowerPoint</Application>
  <PresentationFormat>Custom</PresentationFormat>
  <Paragraphs>213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Trebuchet MS Bold</vt:lpstr>
      <vt:lpstr>Calibri</vt:lpstr>
      <vt:lpstr>Calibri (MS)</vt:lpstr>
      <vt:lpstr>Consolas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Zeina Mohamed Imam</dc:title>
  <dc:creator>HP</dc:creator>
  <cp:lastModifiedBy>HP</cp:lastModifiedBy>
  <cp:revision>2</cp:revision>
  <dcterms:created xsi:type="dcterms:W3CDTF">2006-08-16T00:00:00Z</dcterms:created>
  <dcterms:modified xsi:type="dcterms:W3CDTF">2026-06-03T09:24:14Z</dcterms:modified>
  <dc:identifier>DAHLeM3aZZQ</dc:identifier>
</cp:coreProperties>
</file>